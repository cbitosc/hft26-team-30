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be8a970623a4d92" /><Relationship Type="http://schemas.openxmlformats.org/officeDocument/2006/relationships/extended-properties" Target="/docProps/app.xml" Id="R11b256d123154275" /><Relationship Type="http://schemas.openxmlformats.org/officeDocument/2006/relationships/officeDocument" Target="/ppt/presentation.xml" Id="Ref259638cff54e7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3520aecf4a34057"/>
  </p:sldMasterIdLst>
  <p:notesMasterIdLst>
    <p:notesMasterId xmlns:r="http://schemas.openxmlformats.org/officeDocument/2006/relationships" r:id="R9abec4f74a03475a"/>
  </p:notesMasterIdLst>
  <p:sldIdLst>
    <p:sldId xmlns:r="http://schemas.openxmlformats.org/officeDocument/2006/relationships" id="256" r:id="R5dac7ad362584b96"/>
    <p:sldId xmlns:r="http://schemas.openxmlformats.org/officeDocument/2006/relationships" id="257" r:id="Rdffd922a813e4f21"/>
    <p:sldId xmlns:r="http://schemas.openxmlformats.org/officeDocument/2006/relationships" id="258" r:id="Rc2e8e641afa749d4"/>
    <p:sldId xmlns:r="http://schemas.openxmlformats.org/officeDocument/2006/relationships" id="259" r:id="Rd4a5bb3633e240c6"/>
    <p:sldId xmlns:r="http://schemas.openxmlformats.org/officeDocument/2006/relationships" id="260" r:id="R66c97c99d4e5470b"/>
    <p:sldId xmlns:r="http://schemas.openxmlformats.org/officeDocument/2006/relationships" id="261" r:id="Ra63e64ea64a54a7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f5b229ceb91497b" /><Relationship Type="http://schemas.openxmlformats.org/officeDocument/2006/relationships/slideMaster" Target="/ppt/slideMasters/slideMaster1.xml" Id="R43520aecf4a34057" /><Relationship Type="http://schemas.openxmlformats.org/officeDocument/2006/relationships/notesMaster" Target="/ppt/notesMasters/notesMaster1.xml" Id="R9abec4f74a03475a" /><Relationship Type="http://schemas.openxmlformats.org/officeDocument/2006/relationships/presProps" Target="/ppt/presProps.xml" Id="Rb8d1c220fd7646ca" /><Relationship Type="http://schemas.openxmlformats.org/officeDocument/2006/relationships/tableStyles" Target="/ppt/tableStyles.xml" Id="R4ebabd3899104df7" /><Relationship Type="http://schemas.openxmlformats.org/officeDocument/2006/relationships/slide" Target="/ppt/slides/slide1.xml" Id="R5dac7ad362584b96" /><Relationship Type="http://schemas.openxmlformats.org/officeDocument/2006/relationships/slide" Target="/ppt/slides/slide2.xml" Id="Rdffd922a813e4f21" /><Relationship Type="http://schemas.openxmlformats.org/officeDocument/2006/relationships/slide" Target="/ppt/slides/slide3.xml" Id="Rc2e8e641afa749d4" /><Relationship Type="http://schemas.openxmlformats.org/officeDocument/2006/relationships/slide" Target="/ppt/slides/slide4.xml" Id="Rd4a5bb3633e240c6" /><Relationship Type="http://schemas.openxmlformats.org/officeDocument/2006/relationships/slide" Target="/ppt/slides/slide5.xml" Id="R66c97c99d4e5470b" /><Relationship Type="http://schemas.openxmlformats.org/officeDocument/2006/relationships/slide" Target="/ppt/slides/slide6.xml" Id="Ra63e64ea64a54a7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3e8533c1242450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15f0e6199fb4120" /><Relationship Type="http://schemas.openxmlformats.org/officeDocument/2006/relationships/notesMaster" Target="/ppt/notesMasters/notesMaster1.xml" Id="Rb3f92b9f6b3b44e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42a88016d474d23" /><Relationship Type="http://schemas.openxmlformats.org/officeDocument/2006/relationships/notesMaster" Target="/ppt/notesMasters/notesMaster1.xml" Id="Rffd2e423c092472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97c6ce8a7134b09" /><Relationship Type="http://schemas.openxmlformats.org/officeDocument/2006/relationships/notesMaster" Target="/ppt/notesMasters/notesMaster1.xml" Id="R601278a33faa459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33f8d60f27247bf" /><Relationship Type="http://schemas.openxmlformats.org/officeDocument/2006/relationships/notesMaster" Target="/ppt/notesMasters/notesMaster1.xml" Id="Rec90534a472749a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4264e09872a4cc4" /><Relationship Type="http://schemas.openxmlformats.org/officeDocument/2006/relationships/notesMaster" Target="/ppt/notesMasters/notesMaster1.xml" Id="R56cfe4f8902c492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3658970a2584253" /><Relationship Type="http://schemas.openxmlformats.org/officeDocument/2006/relationships/notesMaster" Target="/ppt/notesMasters/notesMaster1.xml" Id="R6685cadda7d1425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Problem and project scope. A prototype, not an emergency service.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docs/evidence/final-build.md and docs/evidence/required-features.md. A-C radio blocked by allowlist; all three phones airplane mode on, Bluetooth on, Wi-Fi off.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Architecture and tested mentor changes: docs/evidence/mentor-fixes.md. Extras: docs/evidence/extras-phone-test.md. Laptop and dashboard used USB adb reverse. AI was off.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docs/evidence/mentor-fixes.md, final-build.md, required-features.md, extras-phone-test.md. The mentor changes test used indoor debug locations on three phones.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docs/evidence/extras-phone-test.md, final-build.md and tink-security.md. Battery and range remain unmeasured. Laptop and dashboard used USB adb reverse. A had internet in the extras run. No real AI key. SOS can be read by group-code holders; no forward secrecy or independent review.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docs/evidence/mentor-fixes.md. Routing: verified traffic, five-minute expiration, removed on disconnect, eight-second fallback, floods for SOS and area alerts. Role logins offline with public keys only. Admin uses distance and direction without maps. Call-Out, Talk-Back, Last Breath, no-app SOS intake and laptop node are prototype extras. No-app test still used an app-installed phone.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b234ad5cf046a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c4e988ce7d04b6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75e03f1fdc4cd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361b6e399641f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9b16f4962d458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95a03931cb5466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82EDBB0-0FD2-49CE-90A7-A548DD834E0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3212C7CC-7EB5-4D10-97D9-3CD9888AA63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65F1D2E6-A04C-4D79-8F7A-6445C548F83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5AD4B2D-26D0-473D-A72A-D08BC9F8FF6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28CC51C-6981-4B36-8F5A-2ADEC7C279B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4613EA8-08A6-4BAC-BEBA-08B40330A1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7DCE431-9A52-4A28-A9F6-37E0E166F5C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22CD948C-52B4-46B2-87EE-46046804C60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8C9A36C-9626-465F-BB78-C23D633B9E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8C12A52-9C4D-45D5-A210-F46EF3D3FBE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bcca9229d9d4796" /><Relationship Type="http://schemas.openxmlformats.org/officeDocument/2006/relationships/slideLayout" Target="/ppt/slideLayouts/slideLayout1.xml" Id="Rf9db5a84fb3748b0" /><Relationship Type="http://schemas.openxmlformats.org/officeDocument/2006/relationships/slideLayout" Target="/ppt/slideLayouts/slideLayout2.xml" Id="Ra1981d8d846e4c54" /><Relationship Type="http://schemas.openxmlformats.org/officeDocument/2006/relationships/slideLayout" Target="/ppt/slideLayouts/slideLayout3.xml" Id="R270cf1c21cc04a43" /><Relationship Type="http://schemas.openxmlformats.org/officeDocument/2006/relationships/slideLayout" Target="/ppt/slideLayouts/slideLayout4.xml" Id="R28156581fcb34c26" /><Relationship Type="http://schemas.openxmlformats.org/officeDocument/2006/relationships/slideLayout" Target="/ppt/slideLayouts/slideLayout5.xml" Id="R9a3ca1e5d53a4db9" /><Relationship Type="http://schemas.openxmlformats.org/officeDocument/2006/relationships/slideLayout" Target="/ppt/slideLayouts/slideLayout6.xml" Id="R95054885a9eb452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9db5a84fb3748b0"/>
    <p:sldLayoutId xmlns:r="http://schemas.openxmlformats.org/officeDocument/2006/relationships" id="2147483650" r:id="Ra1981d8d846e4c54"/>
    <p:sldLayoutId xmlns:r="http://schemas.openxmlformats.org/officeDocument/2006/relationships" id="2147483651" r:id="R270cf1c21cc04a43"/>
    <p:sldLayoutId xmlns:r="http://schemas.openxmlformats.org/officeDocument/2006/relationships" id="2147483652" r:id="R28156581fcb34c26"/>
    <p:sldLayoutId xmlns:r="http://schemas.openxmlformats.org/officeDocument/2006/relationships" id="2147483653" r:id="R9a3ca1e5d53a4db9"/>
    <p:sldLayoutId xmlns:r="http://schemas.openxmlformats.org/officeDocument/2006/relationships" id="2147483654" r:id="R95054885a9eb452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6c3b438f9c34b82" /><Relationship Type="http://schemas.openxmlformats.org/officeDocument/2006/relationships/notesSlide" Target="/ppt/notesSlides/notesSlide1.xml" Id="Rd9a98cd5a5204cf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cdfb7c7e3ad48c5" /><Relationship Type="http://schemas.openxmlformats.org/officeDocument/2006/relationships/notesSlide" Target="/ppt/notesSlides/notesSlide2.xml" Id="R10a02024f15e4dd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ba0d56d08744ab7" /><Relationship Type="http://schemas.openxmlformats.org/officeDocument/2006/relationships/notesSlide" Target="/ppt/notesSlides/notesSlide3.xml" Id="R5345b6c08e1d4e7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2cf8f3c69d94614" /><Relationship Type="http://schemas.openxmlformats.org/officeDocument/2006/relationships/notesSlide" Target="/ppt/notesSlides/notesSlide4.xml" Id="R33ea3292906d428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292a34464b244fb" /><Relationship Type="http://schemas.openxmlformats.org/officeDocument/2006/relationships/notesSlide" Target="/ppt/notesSlides/notesSlide5.xml" Id="R09bf9c6e5ed844a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2df3a46962c4430" /><Relationship Type="http://schemas.openxmlformats.org/officeDocument/2006/relationships/notesSlide" Target="/ppt/notesSlides/notesSlide6.xml" Id="Rc09cb44983e64f2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11B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D70645-4D78-4291-B188-96CAF23D6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5300"/>
            <a:ext cx="10953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rPr>
              <a:t>Emergency messages when the network fails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F14A9A-12B6-4D9E-B4B7-E6C6DE0EE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24600"/>
            <a:ext cx="5429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rPr>
              <a:t>EMERGENCYMESH   /   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3234BE-086C-4980-B88C-5EA2B4EFB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866900"/>
            <a:ext cx="10096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3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3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3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3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3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3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3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3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3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F4F6FA"/>
                </a:solidFill>
                <a:latin typeface="DejaVu Sans"/>
                <a:ea typeface="DejaVu Sans"/>
                <a:cs typeface="DejaVu Sans"/>
              </a:rPr>
              <a:t>Disasters can interrupt mobile networks and internet.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9BDD28-01A6-45AF-A599-0DF152EE2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09900"/>
            <a:ext cx="101917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62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62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62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62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62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62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62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62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62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62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pPr>
            <a:r>
              <a:rPr sz="2625" b="1">
                <a:solidFill>
                  <a:srgbClr val="6DE0D5"/>
                </a:solidFill>
                <a:latin typeface="DejaVu Sans"/>
                <a:ea typeface="DejaVu Sans"/>
                <a:cs typeface="DejaVu Sans"/>
              </a:rPr>
              <a:t>Nearby Android phones carry messages and SOS alerts until a path to the recipient appears.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767FF1-269E-4BE2-9E60-E243FE669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257800"/>
            <a:ext cx="9048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B6C0D1"/>
                </a:solidFill>
                <a:latin typeface="DejaVu Sans"/>
                <a:ea typeface="DejaVu Sans"/>
                <a:cs typeface="DejaVu Sans"/>
              </a:rPr>
              <a:t>Slackers  •  CBIT Hacktoberfest 2026</a:t>
            </a:r>
          </a:p>
        </p:txBody>
      </p:sp>
    </p:spTree>
    <p:extLst>
      <p:ext uri="{BB962C8B-B14F-4D97-AF65-F5344CB8AC3E}">
        <p14:creationId xmlns:p14="http://schemas.microsoft.com/office/powerpoint/2010/main" val="50126145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11B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CFCFBF-50D0-4CBE-8AEA-2DDDE50F8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5300"/>
            <a:ext cx="10953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rPr>
              <a:t>A message can travel through another phone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39DE22-2E0B-4915-86EC-1D09DAF93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24600"/>
            <a:ext cx="5429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rPr>
              <a:t>EMERGENCYMESH   /   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F0B882-1D26-48FE-B86F-60DA1DE07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7145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17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17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17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17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17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17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17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17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17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6DE0D5"/>
                </a:solidFill>
                <a:latin typeface="DejaVu Sans"/>
                <a:ea typeface="DejaVu Sans"/>
                <a:cs typeface="DejaVu Sans"/>
              </a:rPr>
              <a:t>A (vivo) sent through B (Samsung) to C (OnePlus).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61C866-7FAA-4069-A706-ADDD64748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05075"/>
            <a:ext cx="10096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100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100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100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100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100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100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100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100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100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F4F6FA"/>
                </a:solidFill>
                <a:latin typeface="DejaVu Sans"/>
                <a:ea typeface="DejaVu Sans"/>
                <a:cs typeface="DejaVu Sans"/>
              </a:rPr>
              <a:t>C delivered in 2.6 seconds, one hop. Pending survived restart and sent after reconnection.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95DF56-A5B9-4E0D-A868-DB6A3742B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57650"/>
            <a:ext cx="10096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100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100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100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100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100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100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100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100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100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F4F6FA"/>
                </a:solidFill>
                <a:latin typeface="DejaVu Sans"/>
                <a:ea typeface="DejaVu Sans"/>
                <a:cs typeface="DejaVu Sans"/>
              </a:rPr>
              <a:t>SOS arrived before 20 queued ordinary messages.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1FB973-6A0D-4F13-98D9-818737795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238750"/>
            <a:ext cx="857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65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65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65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65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65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65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65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65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65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B6C0D1"/>
                </a:solidFill>
                <a:latin typeface="DejaVu Sans"/>
                <a:ea typeface="DejaVu Sans"/>
                <a:cs typeface="DejaVu Sans"/>
              </a:rPr>
              <a:t>Core run: all three phones offline.</a:t>
            </a:r>
          </a:p>
        </p:txBody>
      </p:sp>
    </p:spTree>
    <p:extLst>
      <p:ext uri="{BB962C8B-B14F-4D97-AF65-F5344CB8AC3E}">
        <p14:creationId xmlns:p14="http://schemas.microsoft.com/office/powerpoint/2010/main" val="74020003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11B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D5CD97-37A4-49E2-A763-2812BF5AB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5300"/>
            <a:ext cx="10953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rPr>
              <a:t>Android mesh and response tools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B66A24-E5BF-4534-A8BF-20E2066D6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24600"/>
            <a:ext cx="5429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rPr>
              <a:t>EMERGENCYMESH   /   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A7DC70-33F3-487D-B80C-969C2103F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66875"/>
            <a:ext cx="10572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0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0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0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0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0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0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0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0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0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F4F6FA"/>
                </a:solidFill>
                <a:latin typeface="DejaVu Sans"/>
                <a:ea typeface="DejaVu Sans"/>
                <a:cs typeface="DejaVu Sans"/>
              </a:rPr>
              <a:t>Compose, Room, Nearby Connections and Tink protection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FDFAE2-6063-4FD6-B261-93380A0D3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476500"/>
            <a:ext cx="10572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0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0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0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0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0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0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0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0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0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F4F6FA"/>
                </a:solidFill>
                <a:latin typeface="DejaVu Sans"/>
                <a:ea typeface="DejaVu Sans"/>
                <a:cs typeface="DejaVu Sans"/>
              </a:rPr>
              <a:t>User, Responder and Admin logins work offline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AE1928-0416-4DBB-9670-D65F42587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286125"/>
            <a:ext cx="10572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02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02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02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02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02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02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02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02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02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6DE0D5"/>
                </a:solidFill>
                <a:latin typeface="DejaVu Sans"/>
                <a:ea typeface="DejaVu Sans"/>
                <a:cs typeface="DejaVu Sans"/>
              </a:rPr>
              <a:t>Signed area alerts and admin SOS direction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93D7CA-0A24-4285-A950-6337C8E88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95750"/>
            <a:ext cx="10572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0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0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0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0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0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0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0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0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0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F4F6FA"/>
                </a:solidFill>
                <a:latin typeface="DejaVu Sans"/>
                <a:ea typeface="DejaVu Sans"/>
                <a:cs typeface="DejaVu Sans"/>
              </a:rPr>
              <a:t>Fewest-hop direct routes, with an eight-second fallback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71E33B-CAAD-48EF-BB16-73405124A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095875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65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65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65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65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65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65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65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65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65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B6C0D1"/>
                </a:solidFill>
                <a:latin typeface="DejaVu Sans"/>
                <a:ea typeface="DejaVu Sans"/>
                <a:cs typeface="DejaVu Sans"/>
              </a:rPr>
              <a:t>Extras: Call-Out, Talk-Back, Last Breath, no-app SOS intake, laptop node and dashboard</a:t>
            </a:r>
          </a:p>
        </p:txBody>
      </p:sp>
    </p:spTree>
    <p:extLst>
      <p:ext uri="{BB962C8B-B14F-4D97-AF65-F5344CB8AC3E}">
        <p14:creationId xmlns:p14="http://schemas.microsoft.com/office/powerpoint/2010/main" val="127359665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11B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3AE97B-6C15-43B3-8C6D-E2DF61803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5300"/>
            <a:ext cx="10953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rPr>
              <a:t>Evidence from three Android brands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7369BE-5EA2-469C-BA07-057018427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24600"/>
            <a:ext cx="5429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rPr>
              <a:t>EMERGENCYMESH   /   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DF5651-8575-4CF2-96F8-C9BED5DA3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66875"/>
            <a:ext cx="1057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6DE0D5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6DE0D5"/>
                </a:solidFill>
                <a:latin typeface="DejaVu Sans"/>
                <a:ea typeface="DejaVu Sans"/>
                <a:cs typeface="DejaVu Sans"/>
              </a:rPr>
              <a:t>Area alert crossed an outside relay and reached the inside phone in 3.0 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19B369-225A-47BF-A4D8-DF313C73F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733675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rPr>
              <a:t>Locked Samsung inside the area was notified in 2.1 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91C62E-A93B-42F2-870B-83CCFE91C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571875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rPr>
              <a:t>Triangle: B saw neither of two direct messages.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235AAD-15B6-41B1-AC34-E7ED017A4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410075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4F6FA"/>
                </a:solidFill>
                <a:latin typeface="DejaVu Sans"/>
                <a:ea typeface="DejaVu Sans"/>
                <a:cs typeface="DejaVu Sans"/>
              </a:rPr>
              <a:t>Removing the direct link sent the next message through B.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2859C3-D04E-4607-9A9C-0FB7C272F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353050"/>
            <a:ext cx="1057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65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65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65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65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65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65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65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65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65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B6C0D1"/>
                </a:solidFill>
                <a:latin typeface="DejaVu Sans"/>
                <a:ea typeface="DejaVu Sans"/>
                <a:cs typeface="DejaVu Sans"/>
              </a:rPr>
              <a:t>Earlier offline core relay: one hop in 2.6 s.</a:t>
            </a:r>
          </a:p>
        </p:txBody>
      </p:sp>
    </p:spTree>
    <p:extLst>
      <p:ext uri="{BB962C8B-B14F-4D97-AF65-F5344CB8AC3E}">
        <p14:creationId xmlns:p14="http://schemas.microsoft.com/office/powerpoint/2010/main" val="129607662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11B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F66E4C-A041-4A61-AD4D-432DE57A6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5300"/>
            <a:ext cx="10953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rPr>
              <a:t>What the tests did not establish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613E74-5D38-44F2-A128-570CCB948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24600"/>
            <a:ext cx="5429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rPr>
              <a:t>EMERGENCYMESH   /   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C80354-2596-4B87-957E-C07A51642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581150"/>
            <a:ext cx="105727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7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7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7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7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7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7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7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7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7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F4F6FA"/>
                </a:solidFill>
                <a:latin typeface="DejaVu Sans"/>
                <a:ea typeface="DejaVu Sans"/>
                <a:cs typeface="DejaVu Sans"/>
              </a:rPr>
              <a:t>Three real phones and five simulated phones, not 1,000.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FE8C53-0FD6-4578-A603-C70B04EF7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305050"/>
            <a:ext cx="105727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72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72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72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72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72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72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72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72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72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B6C0D1"/>
                </a:solidFill>
                <a:latin typeface="DejaVu Sans"/>
                <a:ea typeface="DejaVu Sans"/>
                <a:cs typeface="DejaVu Sans"/>
              </a:rPr>
              <a:t>Area alerts used indoor test locations, not real GPS boundaries.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FFD8A7-A97E-4ABC-A2AB-F68F8293E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28950"/>
            <a:ext cx="105727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72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72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72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72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72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72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72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72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72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B6C0D1"/>
                </a:solidFill>
                <a:latin typeface="DejaVu Sans"/>
                <a:ea typeface="DejaVu Sans"/>
                <a:cs typeface="DejaVu Sans"/>
              </a:rPr>
              <a:t>SOS location needs a fix from the last two minutes.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C023DB-0162-4D88-A1FC-43932983C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752850"/>
            <a:ext cx="105727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72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72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72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72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72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72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72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72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72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B6C0D1"/>
                </a:solidFill>
                <a:latin typeface="DejaVu Sans"/>
                <a:ea typeface="DejaVu Sans"/>
                <a:cs typeface="DejaVu Sans"/>
              </a:rPr>
              <a:t>The first message to a new phone still spreads through all paths.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B50B49-076C-4250-ADA0-F06F21948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476750"/>
            <a:ext cx="105727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72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72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72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72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72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72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72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72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72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B6C0D1"/>
                </a:solidFill>
                <a:latin typeface="DejaVu Sans"/>
                <a:ea typeface="DejaVu Sans"/>
                <a:cs typeface="DejaVu Sans"/>
              </a:rPr>
              <a:t>Range, battery drain and live AI remain untested.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0C1A69-1236-4890-A2DD-6ED7F090A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200650"/>
            <a:ext cx="105727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72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72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72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72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72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72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72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72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72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B6C0D1"/>
                </a:solidFill>
                <a:latin typeface="DejaVu Sans"/>
                <a:ea typeface="DejaVu Sans"/>
                <a:cs typeface="DejaVu Sans"/>
              </a:rPr>
              <a:t>SOS is readable by phones holding the group code. There has been no independent security review and no forward secrecy.</a:t>
            </a:r>
          </a:p>
        </p:txBody>
      </p:sp>
    </p:spTree>
    <p:extLst>
      <p:ext uri="{BB962C8B-B14F-4D97-AF65-F5344CB8AC3E}">
        <p14:creationId xmlns:p14="http://schemas.microsoft.com/office/powerpoint/2010/main" val="106943652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11B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20621B-964B-4E1A-AE38-773DAF3CD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5300"/>
            <a:ext cx="10953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F4F6FA"/>
                </a:solidFill>
                <a:latin typeface="DejaVu Sans"/>
                <a:ea typeface="DejaVu Sans"/>
                <a:cs typeface="DejaVu Sans"/>
              </a:rPr>
              <a:t>What the mentors asked and what we changed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65187A-437D-4714-8690-36A39C2E4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324600"/>
            <a:ext cx="5429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B6C0D1"/>
                </a:solidFill>
                <a:latin typeface="DejaVu Sans"/>
                <a:ea typeface="DejaVu Sans"/>
                <a:cs typeface="DejaVu Sans"/>
              </a:rPr>
              <a:t>EMERGENCYMESH   /   06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0737B6-F92C-45B4-A384-71CFFB9712D9}"/>
              </a:ext>
            </a:extLst>
          </p:cNvPr>
          <p:cNvGraphicFramePr/>
          <p:nvPr/>
        </p:nvGraphicFramePr>
        <p:xfrm>
          <a:off xmlns:a="http://schemas.openxmlformats.org/drawingml/2006/main" x="619125" y="1666875"/>
          <a:ext xmlns:a="http://schemas.openxmlformats.org/drawingml/2006/main" cx="10906125" cy="4524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33750"/>
                <a:gridCol w="7572375"/>
              </a:tblGrid>
              <a:tr h="754063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4F6F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Mentor question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546174"/>
                      </a:solidFill>
                      <a:prstDash val="solid"/>
                    </a:lnL>
                    <a:lnR w="9525">
                      <a:solidFill>
                        <a:srgbClr val="546174"/>
                      </a:solidFill>
                      <a:prstDash val="solid"/>
                    </a:lnR>
                    <a:lnT w="9525">
                      <a:solidFill>
                        <a:srgbClr val="546174"/>
                      </a:solidFill>
                      <a:prstDash val="solid"/>
                    </a:lnT>
                    <a:lnB w="9525">
                      <a:solidFill>
                        <a:srgbClr val="546174"/>
                      </a:solidFill>
                      <a:prstDash val="solid"/>
                    </a:lnB>
                    <a:solidFill>
                      <a:srgbClr val="23405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4F6F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What we did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546174"/>
                      </a:solidFill>
                      <a:prstDash val="solid"/>
                    </a:lnR>
                    <a:lnT w="9525">
                      <a:solidFill>
                        <a:srgbClr val="546174"/>
                      </a:solidFill>
                      <a:prstDash val="solid"/>
                    </a:lnT>
                    <a:lnB w="9525">
                      <a:solidFill>
                        <a:srgbClr val="546174"/>
                      </a:solidFill>
                      <a:prstDash val="solid"/>
                    </a:lnB>
                    <a:solidFill>
                      <a:srgbClr val="23405B"/>
                    </a:solidFill>
                  </a:tcPr>
                </a:tc>
              </a:tr>
              <a:tr h="754063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F4F6F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1,000 phones: shortest path?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546174"/>
                      </a:solidFill>
                      <a:prstDash val="solid"/>
                    </a:lnL>
                    <a:lnR w="9525">
                      <a:solidFill>
                        <a:srgbClr val="546174"/>
                      </a:solidFill>
                      <a:prstDash val="solid"/>
                    </a:lnR>
                    <a:lnB w="9525">
                      <a:solidFill>
                        <a:srgbClr val="546174"/>
                      </a:solidFill>
                      <a:prstDash val="solid"/>
                    </a:lnB>
                    <a:solidFill>
                      <a:srgbClr val="1829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F4F6F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Verified traffic teaches fewest-hop routes. After 8 seconds other paths open. Routes expire in 5 minutes or on disconnect. SOS and area alerts flood. Tested on 3 real and 5 simulated phones.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546174"/>
                      </a:solidFill>
                      <a:prstDash val="solid"/>
                    </a:lnR>
                    <a:lnB w="9525">
                      <a:solidFill>
                        <a:srgbClr val="546174"/>
                      </a:solidFill>
                      <a:prstDash val="solid"/>
                    </a:lnB>
                    <a:solidFill>
                      <a:srgbClr val="182943"/>
                    </a:solidFill>
                  </a:tcPr>
                </a:tc>
              </a:tr>
              <a:tr h="754063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F4F6F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Three logins?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546174"/>
                      </a:solidFill>
                      <a:prstDash val="solid"/>
                    </a:lnL>
                    <a:lnR w="9525">
                      <a:solidFill>
                        <a:srgbClr val="546174"/>
                      </a:solidFill>
                      <a:prstDash val="solid"/>
                    </a:lnR>
                    <a:lnB w="9525">
                      <a:solidFill>
                        <a:srgbClr val="546174"/>
                      </a:solidFill>
                      <a:prstDash val="solid"/>
                    </a:lnB>
                    <a:solidFill>
                      <a:srgbClr val="14213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F4F6F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User, Responder and Admin work offline. The app stores public keys only.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546174"/>
                      </a:solidFill>
                      <a:prstDash val="solid"/>
                    </a:lnR>
                    <a:lnB w="9525">
                      <a:solidFill>
                        <a:srgbClr val="546174"/>
                      </a:solidFill>
                      <a:prstDash val="solid"/>
                    </a:lnB>
                    <a:solidFill>
                      <a:srgbClr val="142139"/>
                    </a:solidFill>
                  </a:tcPr>
                </a:tc>
              </a:tr>
              <a:tr h="754063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F4F6F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How is hopping different?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546174"/>
                      </a:solidFill>
                      <a:prstDash val="solid"/>
                    </a:lnL>
                    <a:lnR w="9525">
                      <a:solidFill>
                        <a:srgbClr val="546174"/>
                      </a:solidFill>
                      <a:prstDash val="solid"/>
                    </a:lnR>
                    <a:lnB w="9525">
                      <a:solidFill>
                        <a:srgbClr val="546174"/>
                      </a:solidFill>
                      <a:prstDash val="solid"/>
                    </a:lnB>
                    <a:solidFill>
                      <a:srgbClr val="1829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F4F6F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Call-Out, Talk-Back, Last Breath and no-app SOS intake help people beyond the app flow. A laptop node carries packets.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546174"/>
                      </a:solidFill>
                      <a:prstDash val="solid"/>
                    </a:lnR>
                    <a:lnB w="9525">
                      <a:solidFill>
                        <a:srgbClr val="546174"/>
                      </a:solidFill>
                      <a:prstDash val="solid"/>
                    </a:lnB>
                    <a:solidFill>
                      <a:srgbClr val="182943"/>
                    </a:solidFill>
                  </a:tcPr>
                </a:tc>
              </a:tr>
              <a:tr h="754063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F4F6F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How does admin locate help?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546174"/>
                      </a:solidFill>
                      <a:prstDash val="solid"/>
                    </a:lnL>
                    <a:lnR w="9525">
                      <a:solidFill>
                        <a:srgbClr val="546174"/>
                      </a:solidFill>
                      <a:prstDash val="solid"/>
                    </a:lnR>
                    <a:lnB w="9525">
                      <a:solidFill>
                        <a:srgbClr val="546174"/>
                      </a:solidFill>
                      <a:prstDash val="solid"/>
                    </a:lnB>
                    <a:solidFill>
                      <a:srgbClr val="14213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F4F6F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SOS distance and direction show on the admin phone without maps or internet.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546174"/>
                      </a:solidFill>
                      <a:prstDash val="solid"/>
                    </a:lnR>
                    <a:lnB w="9525">
                      <a:solidFill>
                        <a:srgbClr val="546174"/>
                      </a:solidFill>
                      <a:prstDash val="solid"/>
                    </a:lnB>
                    <a:solidFill>
                      <a:srgbClr val="142139"/>
                    </a:solidFill>
                  </a:tcPr>
                </a:tc>
              </a:tr>
              <a:tr h="754063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F4F6F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Warn only one area?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546174"/>
                      </a:solidFill>
                      <a:prstDash val="solid"/>
                    </a:lnL>
                    <a:lnR w="9525">
                      <a:solidFill>
                        <a:srgbClr val="546174"/>
                      </a:solidFill>
                      <a:prstDash val="solid"/>
                    </a:lnR>
                    <a:lnB w="9525">
                      <a:solidFill>
                        <a:srgbClr val="546174"/>
                      </a:solidFill>
                      <a:prstDash val="solid"/>
                    </a:lnB>
                    <a:solidFill>
                      <a:srgbClr val="1829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F4F6F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Every phone relays signed alerts; phones inside show them. Indoor test locations were used.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546174"/>
                      </a:solidFill>
                      <a:prstDash val="solid"/>
                    </a:lnR>
                    <a:lnB w="9525">
                      <a:solidFill>
                        <a:srgbClr val="546174"/>
                      </a:solidFill>
                      <a:prstDash val="solid"/>
                    </a:lnB>
                    <a:solidFill>
                      <a:srgbClr val="182943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4287304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2026-10-31T08:32:51.1940000Z</dcterms:created>
  <dcterms:modified xsi:type="dcterms:W3CDTF">2026-10-31T08:32:51.1940000Z</dcterms:modified>
</coreProperties>
</file>