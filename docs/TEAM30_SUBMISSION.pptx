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f7e128c2-da51-a5d8-c85b-40783da85169}">
          <p14:sldIdLst>
            <p14:sldId id="256"/>
          </p14:sldIdLst>
        </p14:section>
        <p14:section name="How it works" id="{b48ca8c0-e3b7-6cd8-f3c7-05ee3f5d0ab9}">
          <p14:sldIdLst>
            <p14:sldId id="257"/>
          </p14:sldIdLst>
        </p14:section>
        <p14:section name="Requirements" id="{4b989ff8-834c-679e-12f7-a724e869b85b}">
          <p14:sldIdLst>
            <p14:sldId id="258"/>
          </p14:sldIdLst>
        </p14:section>
        <p14:section name="What's different" id="{1a5b9d41-2416-8e82-7704-ba598e6667fc}">
          <p14:sldIdLst>
            <p14:sldId id="259"/>
          </p14:sldIdLst>
        </p14:section>
        <p14:section name="Results" id="{463cadfc-8351-fe9d-bcf4-c8eee34c399c}">
          <p14:sldIdLst>
            <p14:sldId id="260"/>
          </p14:sldIdLst>
        </p14:section>
        <p14:section name="Limits" id="{8a9f4c5e-a4b9-4e66-5734-4e9710a6e80e}">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EmergencyMesh lets Android phones carry emergency messages for each other when cellular service and internet are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and C can't reach each other, so B carries the message. B can't read it. The message is saved first, so it survives a restart and sends later if no path exists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required feature passed on real phones except battery, which is partial because we never measured drain. Security passed on the tested build and has had no independent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uses hopping, so we focused on the people around it. Responders can warn one area. Admins can locate people. Rescuers can find someone who can't reach their phone. Limits for each are in the test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timings from our phone tests. The screenshots used test locations because we were indoors.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kept these limits visible so the results can be trusted.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0972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731520" y="3063240"/>
            <a:ext cx="6035040" cy="1005840"/>
          </a:xfrm>
          <a:prstGeom prst="rect">
            <a:avLst/>
          </a:prstGeom>
          <a:noFill/>
          <a:ln/>
        </p:spPr>
        <p:txBody>
          <a:bodyPr wrap="square" rtlCol="0"/>
          <a:lstStyle>
            <a:lvl1pPr algn="l" indent="0" marL="0">
              <a:buNone/>
              <a:defRPr lang="en-US" sz="2400" dirty="0">
                <a:solidFill>
                  <a:schemeClr val="accent6"/>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640080" y="6382512"/>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EmergencyMesh  ·  Team Slackers</a:t>
            </a:r>
            <a:endParaRPr lang="en-US" sz="1000" dirty="0"/>
          </a:p>
        </p:txBody>
      </p:sp>
      <p:sp>
        <p:nvSpPr>
          <p:cNvPr id="25" name="Slide Number Placeholder 0"/>
          <p:cNvSpPr>
            <a:spLocks noGrp="1"/>
          </p:cNvSpPr>
          <p:nvPr>
            <p:ph type="sldNum" sz="quarter" idx="4294967295"/>
          </p:nvPr>
        </p:nvSpPr>
        <p:spPr>
          <a:xfrm>
            <a:off x="1100023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shrenik111/HFT26-TEAM-30" TargetMode="External"/><Relationship Id="rId2" Type="http://schemas.openxmlformats.org/officeDocument/2006/relationships/hyperlink" Target="https://github.com/shrenik111/HFT26-TEAM-30/releases/tag/v0.1.0" TargetMode="External"/><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6583680" cy="1097280"/>
          </a:xfrm>
          <a:prstGeom prst="rect">
            <a:avLst/>
          </a:prstGeom>
          <a:noFill/>
          <a:ln/>
        </p:spPr>
        <p:txBody>
          <a:bodyPr wrap="square" lIns="0" tIns="0" rIns="0" bIns="0" rtlCol="0" anchor="b"/>
          <a:lstStyle/>
          <a:p>
            <a:pPr algn="l" indent="0" marL="0">
              <a:buNone/>
            </a:pPr>
            <a:r>
              <a:rPr lang="en-US" sz="5400" b="1" dirty="0">
                <a:solidFill>
                  <a:schemeClr val="bg1"/>
                </a:solidFill>
              </a:rPr>
              <a:t>EmergencyMesh</a:t>
            </a:r>
            <a:endParaRPr lang="en-US" sz="5400" dirty="0"/>
          </a:p>
        </p:txBody>
      </p:sp>
      <p:sp>
        <p:nvSpPr>
          <p:cNvPr id="3" name="Text 0"/>
          <p:cNvSpPr/>
          <p:nvPr>
            <p:ph idx="101" type="body" hasCustomPrompt="1"/>
          </p:nvPr>
        </p:nvSpPr>
        <p:spPr>
          <a:xfrm>
            <a:off x="731520" y="3063240"/>
            <a:ext cx="6035040" cy="1005840"/>
          </a:xfrm>
          <a:prstGeom prst="rect">
            <a:avLst/>
          </a:prstGeom>
          <a:noFill/>
          <a:ln/>
        </p:spPr>
        <p:txBody>
          <a:bodyPr wrap="square" lIns="0" tIns="0" rIns="0" bIns="0" rtlCol="0" anchor="t"/>
          <a:lstStyle/>
          <a:p>
            <a:pPr algn="l" indent="0" marL="0">
              <a:buNone/>
            </a:pPr>
            <a:r>
              <a:rPr lang="en-US" sz="2400" dirty="0">
                <a:solidFill>
                  <a:schemeClr val="accent6"/>
                </a:solidFill>
              </a:rPr>
              <a:t>Emergency messages that work when the network doesn't</a:t>
            </a:r>
            <a:endParaRPr lang="en-US" sz="2400" dirty="0"/>
          </a:p>
        </p:txBody>
      </p:sp>
      <p:sp>
        <p:nvSpPr>
          <p:cNvPr id="4" name="Text 2"/>
          <p:cNvSpPr txBox="1"/>
          <p:nvPr/>
        </p:nvSpPr>
        <p:spPr>
          <a:xfrm>
            <a:off x="731520" y="4754880"/>
            <a:ext cx="6400800" cy="320040"/>
          </a:xfrm>
          <a:prstGeom prst="rect">
            <a:avLst/>
          </a:prstGeom>
          <a:noFill/>
          <a:ln/>
        </p:spPr>
        <p:txBody>
          <a:bodyPr wrap="square" lIns="0" tIns="0" rIns="0" bIns="0" rtlCol="0" anchor="ctr"/>
          <a:lstStyle/>
          <a:p>
            <a:pPr indent="0" marL="0">
              <a:buNone/>
            </a:pPr>
            <a:r>
              <a:rPr lang="en-US" sz="1600" b="1" dirty="0">
                <a:solidFill>
                  <a:schemeClr val="bg1"/>
                </a:solidFill>
              </a:rPr>
              <a:t>Team Slackers  ·  TEAM-30  ·  CBIT Hacktoberfest '26</a:t>
            </a:r>
            <a:endParaRPr lang="en-US" sz="1600" dirty="0"/>
          </a:p>
        </p:txBody>
      </p:sp>
      <p:sp>
        <p:nvSpPr>
          <p:cNvPr id="5" name="Text 3"/>
          <p:cNvSpPr txBox="1"/>
          <p:nvPr/>
        </p:nvSpPr>
        <p:spPr>
          <a:xfrm>
            <a:off x="731520" y="5120640"/>
            <a:ext cx="6400800" cy="548640"/>
          </a:xfrm>
          <a:prstGeom prst="rect">
            <a:avLst/>
          </a:prstGeom>
          <a:noFill/>
          <a:ln/>
        </p:spPr>
        <p:txBody>
          <a:bodyPr wrap="square" lIns="0" tIns="0" rIns="0" bIns="0" rtlCol="0" anchor="ctr"/>
          <a:lstStyle/>
          <a:p>
            <a:pPr indent="0" marL="0">
              <a:buNone/>
            </a:pPr>
            <a:r>
              <a:rPr lang="en-US" sz="1400" dirty="0">
                <a:solidFill>
                  <a:schemeClr val="accent4"/>
                </a:solidFill>
              </a:rPr>
              <a:t>Shrenik Singirikonda, Saanvi Ponagoti, Vindya Yelisetty, Sai Vishlesh Samala, Vangmay Puppireddy</a:t>
            </a:r>
            <a:endParaRPr lang="en-US" sz="1400" dirty="0"/>
          </a:p>
        </p:txBody>
      </p:sp>
      <p:sp>
        <p:nvSpPr>
          <p:cNvPr id="6" name="Link"/>
          <p:cNvSpPr/>
          <p:nvPr/>
        </p:nvSpPr>
        <p:spPr>
          <a:xfrm flipV="1">
            <a:off x="8321040" y="1097280"/>
            <a:ext cx="2194560" cy="365760"/>
          </a:xfrm>
          <a:prstGeom prst="line">
            <a:avLst/>
          </a:prstGeom>
          <a:noFill/>
          <a:ln w="25400">
            <a:solidFill>
              <a:schemeClr val="accent5"/>
            </a:solidFill>
            <a:prstDash val="solid"/>
          </a:ln>
        </p:spPr>
      </p:sp>
      <p:sp>
        <p:nvSpPr>
          <p:cNvPr id="7" name="Link"/>
          <p:cNvSpPr/>
          <p:nvPr/>
        </p:nvSpPr>
        <p:spPr>
          <a:xfrm flipV="1">
            <a:off x="7955280" y="1463040"/>
            <a:ext cx="365760" cy="1920240"/>
          </a:xfrm>
          <a:prstGeom prst="line">
            <a:avLst/>
          </a:prstGeom>
          <a:noFill/>
          <a:ln w="25400">
            <a:solidFill>
              <a:schemeClr val="accent5"/>
            </a:solidFill>
            <a:prstDash val="solid"/>
          </a:ln>
        </p:spPr>
      </p:sp>
      <p:sp>
        <p:nvSpPr>
          <p:cNvPr id="8" name="Link"/>
          <p:cNvSpPr/>
          <p:nvPr/>
        </p:nvSpPr>
        <p:spPr>
          <a:xfrm>
            <a:off x="8321040" y="1463040"/>
            <a:ext cx="1463040" cy="1463040"/>
          </a:xfrm>
          <a:prstGeom prst="line">
            <a:avLst/>
          </a:prstGeom>
          <a:noFill/>
          <a:ln w="25400">
            <a:solidFill>
              <a:schemeClr val="accent5"/>
            </a:solidFill>
            <a:prstDash val="solid"/>
          </a:ln>
        </p:spPr>
      </p:sp>
      <p:sp>
        <p:nvSpPr>
          <p:cNvPr id="9" name="Link"/>
          <p:cNvSpPr/>
          <p:nvPr/>
        </p:nvSpPr>
        <p:spPr>
          <a:xfrm flipV="1">
            <a:off x="9784080" y="1097280"/>
            <a:ext cx="731520" cy="1828800"/>
          </a:xfrm>
          <a:prstGeom prst="line">
            <a:avLst/>
          </a:prstGeom>
          <a:noFill/>
          <a:ln w="25400">
            <a:solidFill>
              <a:schemeClr val="accent5"/>
            </a:solidFill>
            <a:prstDash val="solid"/>
          </a:ln>
        </p:spPr>
      </p:sp>
      <p:sp>
        <p:nvSpPr>
          <p:cNvPr id="10" name="Link"/>
          <p:cNvSpPr/>
          <p:nvPr/>
        </p:nvSpPr>
        <p:spPr>
          <a:xfrm>
            <a:off x="10515600" y="1097280"/>
            <a:ext cx="731520" cy="2468880"/>
          </a:xfrm>
          <a:prstGeom prst="line">
            <a:avLst/>
          </a:prstGeom>
          <a:noFill/>
          <a:ln w="25400">
            <a:solidFill>
              <a:schemeClr val="accent5"/>
            </a:solidFill>
            <a:prstDash val="solid"/>
          </a:ln>
        </p:spPr>
      </p:sp>
      <p:sp>
        <p:nvSpPr>
          <p:cNvPr id="11" name="Link"/>
          <p:cNvSpPr/>
          <p:nvPr/>
        </p:nvSpPr>
        <p:spPr>
          <a:xfrm flipV="1">
            <a:off x="7955280" y="2926080"/>
            <a:ext cx="1828800" cy="457200"/>
          </a:xfrm>
          <a:prstGeom prst="line">
            <a:avLst/>
          </a:prstGeom>
          <a:noFill/>
          <a:ln w="25400">
            <a:solidFill>
              <a:schemeClr val="accent5"/>
            </a:solidFill>
            <a:prstDash val="solid"/>
          </a:ln>
        </p:spPr>
      </p:sp>
      <p:sp>
        <p:nvSpPr>
          <p:cNvPr id="12" name="Link"/>
          <p:cNvSpPr/>
          <p:nvPr/>
        </p:nvSpPr>
        <p:spPr>
          <a:xfrm>
            <a:off x="7955280" y="3383280"/>
            <a:ext cx="914400" cy="1645920"/>
          </a:xfrm>
          <a:prstGeom prst="line">
            <a:avLst/>
          </a:prstGeom>
          <a:noFill/>
          <a:ln w="25400">
            <a:solidFill>
              <a:schemeClr val="accent5"/>
            </a:solidFill>
            <a:prstDash val="solid"/>
          </a:ln>
        </p:spPr>
      </p:sp>
      <p:sp>
        <p:nvSpPr>
          <p:cNvPr id="13" name="Link"/>
          <p:cNvSpPr/>
          <p:nvPr/>
        </p:nvSpPr>
        <p:spPr>
          <a:xfrm>
            <a:off x="9784080" y="2926080"/>
            <a:ext cx="1463040" cy="640080"/>
          </a:xfrm>
          <a:prstGeom prst="line">
            <a:avLst/>
          </a:prstGeom>
          <a:noFill/>
          <a:ln w="25400">
            <a:solidFill>
              <a:schemeClr val="accent5"/>
            </a:solidFill>
            <a:prstDash val="solid"/>
          </a:ln>
        </p:spPr>
      </p:sp>
      <p:sp>
        <p:nvSpPr>
          <p:cNvPr id="14" name="Link"/>
          <p:cNvSpPr/>
          <p:nvPr/>
        </p:nvSpPr>
        <p:spPr>
          <a:xfrm flipV="1">
            <a:off x="8869680" y="2926080"/>
            <a:ext cx="914400" cy="2103120"/>
          </a:xfrm>
          <a:prstGeom prst="line">
            <a:avLst/>
          </a:prstGeom>
          <a:noFill/>
          <a:ln w="25400">
            <a:solidFill>
              <a:schemeClr val="accent5"/>
            </a:solidFill>
            <a:prstDash val="solid"/>
          </a:ln>
        </p:spPr>
      </p:sp>
      <p:sp>
        <p:nvSpPr>
          <p:cNvPr id="15" name="Link"/>
          <p:cNvSpPr/>
          <p:nvPr/>
        </p:nvSpPr>
        <p:spPr>
          <a:xfrm>
            <a:off x="9784080" y="2926080"/>
            <a:ext cx="1005840" cy="2377440"/>
          </a:xfrm>
          <a:prstGeom prst="line">
            <a:avLst/>
          </a:prstGeom>
          <a:noFill/>
          <a:ln w="25400">
            <a:solidFill>
              <a:schemeClr val="accent5"/>
            </a:solidFill>
            <a:prstDash val="solid"/>
          </a:ln>
        </p:spPr>
      </p:sp>
      <p:sp>
        <p:nvSpPr>
          <p:cNvPr id="16" name="Link"/>
          <p:cNvSpPr/>
          <p:nvPr/>
        </p:nvSpPr>
        <p:spPr>
          <a:xfrm flipV="1">
            <a:off x="10789920" y="3566160"/>
            <a:ext cx="457200" cy="1737360"/>
          </a:xfrm>
          <a:prstGeom prst="line">
            <a:avLst/>
          </a:prstGeom>
          <a:noFill/>
          <a:ln w="25400">
            <a:solidFill>
              <a:schemeClr val="accent5"/>
            </a:solidFill>
            <a:prstDash val="solid"/>
          </a:ln>
        </p:spPr>
      </p:sp>
      <p:sp>
        <p:nvSpPr>
          <p:cNvPr id="17" name="Link"/>
          <p:cNvSpPr/>
          <p:nvPr/>
        </p:nvSpPr>
        <p:spPr>
          <a:xfrm>
            <a:off x="8869680" y="5029200"/>
            <a:ext cx="1920240" cy="274320"/>
          </a:xfrm>
          <a:prstGeom prst="line">
            <a:avLst/>
          </a:prstGeom>
          <a:noFill/>
          <a:ln w="25400">
            <a:solidFill>
              <a:schemeClr val="accent5"/>
            </a:solidFill>
            <a:prstDash val="solid"/>
          </a:ln>
        </p:spPr>
      </p:sp>
      <p:sp>
        <p:nvSpPr>
          <p:cNvPr id="18" name="Phone"/>
          <p:cNvSpPr/>
          <p:nvPr/>
        </p:nvSpPr>
        <p:spPr>
          <a:xfrm>
            <a:off x="8129016" y="1271016"/>
            <a:ext cx="384048" cy="384048"/>
          </a:xfrm>
          <a:prstGeom prst="ellipse">
            <a:avLst/>
          </a:prstGeom>
          <a:solidFill>
            <a:schemeClr val="accent1"/>
          </a:solidFill>
          <a:ln w="12700">
            <a:solidFill>
              <a:schemeClr val="accent1"/>
            </a:solidFill>
            <a:prstDash val="solid"/>
          </a:ln>
        </p:spPr>
      </p:sp>
      <p:sp>
        <p:nvSpPr>
          <p:cNvPr id="19" name="Phone"/>
          <p:cNvSpPr/>
          <p:nvPr/>
        </p:nvSpPr>
        <p:spPr>
          <a:xfrm>
            <a:off x="10323576" y="905256"/>
            <a:ext cx="384048" cy="384048"/>
          </a:xfrm>
          <a:prstGeom prst="ellipse">
            <a:avLst/>
          </a:prstGeom>
          <a:solidFill>
            <a:schemeClr val="accent1"/>
          </a:solidFill>
          <a:ln w="12700">
            <a:solidFill>
              <a:schemeClr val="accent1"/>
            </a:solidFill>
            <a:prstDash val="solid"/>
          </a:ln>
        </p:spPr>
      </p:sp>
      <p:sp>
        <p:nvSpPr>
          <p:cNvPr id="20" name="Phone"/>
          <p:cNvSpPr/>
          <p:nvPr/>
        </p:nvSpPr>
        <p:spPr>
          <a:xfrm>
            <a:off x="7763256" y="3191256"/>
            <a:ext cx="384048" cy="384048"/>
          </a:xfrm>
          <a:prstGeom prst="ellipse">
            <a:avLst/>
          </a:prstGeom>
          <a:solidFill>
            <a:schemeClr val="accent1"/>
          </a:solidFill>
          <a:ln w="12700">
            <a:solidFill>
              <a:schemeClr val="accent1"/>
            </a:solidFill>
            <a:prstDash val="solid"/>
          </a:ln>
        </p:spPr>
      </p:sp>
      <p:sp>
        <p:nvSpPr>
          <p:cNvPr id="21" name="Phone"/>
          <p:cNvSpPr/>
          <p:nvPr/>
        </p:nvSpPr>
        <p:spPr>
          <a:xfrm>
            <a:off x="11055096" y="3374136"/>
            <a:ext cx="384048" cy="384048"/>
          </a:xfrm>
          <a:prstGeom prst="ellipse">
            <a:avLst/>
          </a:prstGeom>
          <a:solidFill>
            <a:schemeClr val="accent1"/>
          </a:solidFill>
          <a:ln w="12700">
            <a:solidFill>
              <a:schemeClr val="accent1"/>
            </a:solidFill>
            <a:prstDash val="solid"/>
          </a:ln>
        </p:spPr>
      </p:sp>
      <p:sp>
        <p:nvSpPr>
          <p:cNvPr id="22" name="Phone"/>
          <p:cNvSpPr/>
          <p:nvPr/>
        </p:nvSpPr>
        <p:spPr>
          <a:xfrm>
            <a:off x="8677656" y="4837176"/>
            <a:ext cx="384048" cy="384048"/>
          </a:xfrm>
          <a:prstGeom prst="ellipse">
            <a:avLst/>
          </a:prstGeom>
          <a:solidFill>
            <a:schemeClr val="accent1"/>
          </a:solidFill>
          <a:ln w="12700">
            <a:solidFill>
              <a:schemeClr val="accent1"/>
            </a:solidFill>
            <a:prstDash val="solid"/>
          </a:ln>
        </p:spPr>
      </p:sp>
      <p:sp>
        <p:nvSpPr>
          <p:cNvPr id="23" name="Phone"/>
          <p:cNvSpPr/>
          <p:nvPr/>
        </p:nvSpPr>
        <p:spPr>
          <a:xfrm>
            <a:off x="10597896" y="5111496"/>
            <a:ext cx="384048" cy="384048"/>
          </a:xfrm>
          <a:prstGeom prst="ellipse">
            <a:avLst/>
          </a:prstGeom>
          <a:solidFill>
            <a:schemeClr val="accent1"/>
          </a:solidFill>
          <a:ln w="12700">
            <a:solidFill>
              <a:schemeClr val="accent1"/>
            </a:solidFill>
            <a:prstDash val="solid"/>
          </a:ln>
        </p:spPr>
      </p:sp>
      <p:sp>
        <p:nvSpPr>
          <p:cNvPr id="24" name="SOS phone"/>
          <p:cNvSpPr/>
          <p:nvPr/>
        </p:nvSpPr>
        <p:spPr>
          <a:xfrm>
            <a:off x="9326880" y="2468880"/>
            <a:ext cx="914400" cy="914400"/>
          </a:xfrm>
          <a:prstGeom prst="ellipse">
            <a:avLst/>
          </a:prstGeom>
          <a:solidFill>
            <a:schemeClr val="accent2"/>
          </a:solidFill>
          <a:ln w="12700">
            <a:solidFill>
              <a:schemeClr val="accent2"/>
            </a:solidFill>
            <a:prstDash val="solid"/>
          </a:ln>
        </p:spPr>
      </p:sp>
      <p:sp>
        <p:nvSpPr>
          <p:cNvPr id="25" name="Text 23"/>
          <p:cNvSpPr txBox="1"/>
          <p:nvPr/>
        </p:nvSpPr>
        <p:spPr>
          <a:xfrm>
            <a:off x="9326880" y="2697480"/>
            <a:ext cx="914400" cy="457200"/>
          </a:xfrm>
          <a:prstGeom prst="rect">
            <a:avLst/>
          </a:prstGeom>
          <a:noFill/>
          <a:ln/>
        </p:spPr>
        <p:txBody>
          <a:bodyPr wrap="square" lIns="0" tIns="0" rIns="0" bIns="0" rtlCol="0" anchor="ctr"/>
          <a:lstStyle/>
          <a:p>
            <a:pPr algn="ctr" indent="0" marL="0">
              <a:buNone/>
            </a:pPr>
            <a:r>
              <a:rPr lang="en-US" sz="1800" b="1" dirty="0">
                <a:solidFill>
                  <a:schemeClr val="bg1"/>
                </a:solidFill>
              </a:rPr>
              <a:t>SOS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600" b="1" dirty="0">
                <a:solidFill>
                  <a:schemeClr val="tx1"/>
                </a:solidFill>
              </a:rPr>
              <a:t>Nearby phones become the network</a:t>
            </a:r>
            <a:endParaRPr lang="en-US" sz="3600" dirty="0"/>
          </a:p>
        </p:txBody>
      </p:sp>
      <p:sp>
        <p:nvSpPr>
          <p:cNvPr id="3" name="Link"/>
          <p:cNvSpPr/>
          <p:nvPr/>
        </p:nvSpPr>
        <p:spPr>
          <a:xfrm>
            <a:off x="2898648" y="2103120"/>
            <a:ext cx="2633472" cy="0"/>
          </a:xfrm>
          <a:prstGeom prst="line">
            <a:avLst/>
          </a:prstGeom>
          <a:noFill/>
          <a:ln w="38100">
            <a:solidFill>
              <a:schemeClr val="accent1"/>
            </a:solidFill>
            <a:prstDash val="solid"/>
            <a:tailEnd type="triangle"/>
          </a:ln>
        </p:spPr>
      </p:sp>
      <p:sp>
        <p:nvSpPr>
          <p:cNvPr id="4" name="Link"/>
          <p:cNvSpPr/>
          <p:nvPr/>
        </p:nvSpPr>
        <p:spPr>
          <a:xfrm>
            <a:off x="6665976" y="2103120"/>
            <a:ext cx="2624328" cy="0"/>
          </a:xfrm>
          <a:prstGeom prst="line">
            <a:avLst/>
          </a:prstGeom>
          <a:noFill/>
          <a:ln w="38100">
            <a:solidFill>
              <a:schemeClr val="accent1"/>
            </a:solidFill>
            <a:prstDash val="solid"/>
            <a:tailEnd type="triangle"/>
          </a:ln>
        </p:spPr>
      </p:sp>
      <p:sp>
        <p:nvSpPr>
          <p:cNvPr id="5" name="Phone A"/>
          <p:cNvSpPr/>
          <p:nvPr/>
        </p:nvSpPr>
        <p:spPr>
          <a:xfrm>
            <a:off x="1783080" y="1554480"/>
            <a:ext cx="1097280" cy="1097280"/>
          </a:xfrm>
          <a:prstGeom prst="ellipse">
            <a:avLst/>
          </a:prstGeom>
          <a:solidFill>
            <a:schemeClr val="tx1"/>
          </a:solidFill>
          <a:ln w="12700">
            <a:solidFill>
              <a:schemeClr val="tx1"/>
            </a:solidFill>
            <a:prstDash val="solid"/>
          </a:ln>
        </p:spPr>
      </p:sp>
      <p:sp>
        <p:nvSpPr>
          <p:cNvPr id="6" name="Text 4"/>
          <p:cNvSpPr txBox="1"/>
          <p:nvPr/>
        </p:nvSpPr>
        <p:spPr>
          <a:xfrm>
            <a:off x="1783080" y="1554480"/>
            <a:ext cx="1097280" cy="1097280"/>
          </a:xfrm>
          <a:prstGeom prst="rect">
            <a:avLst/>
          </a:prstGeom>
          <a:noFill/>
          <a:ln/>
        </p:spPr>
        <p:txBody>
          <a:bodyPr wrap="square" lIns="0" tIns="0" rIns="0" bIns="0" rtlCol="0" anchor="ctr"/>
          <a:lstStyle/>
          <a:p>
            <a:pPr algn="ctr" indent="0" marL="0">
              <a:buNone/>
            </a:pPr>
            <a:r>
              <a:rPr lang="en-US" sz="3200" b="1" dirty="0">
                <a:solidFill>
                  <a:schemeClr val="bg1"/>
                </a:solidFill>
              </a:rPr>
              <a:t>A</a:t>
            </a:r>
            <a:endParaRPr lang="en-US" sz="3200" dirty="0"/>
          </a:p>
        </p:txBody>
      </p:sp>
      <p:sp>
        <p:nvSpPr>
          <p:cNvPr id="7" name="Text 5"/>
          <p:cNvSpPr txBox="1"/>
          <p:nvPr/>
        </p:nvSpPr>
        <p:spPr>
          <a:xfrm>
            <a:off x="640080" y="2788920"/>
            <a:ext cx="3383280" cy="365760"/>
          </a:xfrm>
          <a:prstGeom prst="rect">
            <a:avLst/>
          </a:prstGeom>
          <a:noFill/>
          <a:ln/>
        </p:spPr>
        <p:txBody>
          <a:bodyPr wrap="square" lIns="0" tIns="0" rIns="0" bIns="0" rtlCol="0" anchor="ctr"/>
          <a:lstStyle/>
          <a:p>
            <a:pPr algn="ctr" indent="0" marL="0">
              <a:buNone/>
            </a:pPr>
            <a:r>
              <a:rPr lang="en-US" sz="1800" b="1" dirty="0">
                <a:solidFill>
                  <a:schemeClr val="tx1"/>
                </a:solidFill>
              </a:rPr>
              <a:t>Sender</a:t>
            </a:r>
            <a:endParaRPr lang="en-US" sz="1800" dirty="0"/>
          </a:p>
        </p:txBody>
      </p:sp>
      <p:sp>
        <p:nvSpPr>
          <p:cNvPr id="8" name="Text 6"/>
          <p:cNvSpPr txBox="1"/>
          <p:nvPr/>
        </p:nvSpPr>
        <p:spPr>
          <a:xfrm>
            <a:off x="640080" y="3154680"/>
            <a:ext cx="3383280" cy="320040"/>
          </a:xfrm>
          <a:prstGeom prst="rect">
            <a:avLst/>
          </a:prstGeom>
          <a:noFill/>
          <a:ln/>
        </p:spPr>
        <p:txBody>
          <a:bodyPr wrap="square" lIns="0" tIns="0" rIns="0" bIns="0" rtlCol="0" anchor="ctr"/>
          <a:lstStyle/>
          <a:p>
            <a:pPr algn="ctr" indent="0" marL="0">
              <a:buNone/>
            </a:pPr>
            <a:r>
              <a:rPr lang="en-US" sz="1400" dirty="0">
                <a:solidFill>
                  <a:schemeClr val="tx2"/>
                </a:solidFill>
              </a:rPr>
              <a:t>Saves the message, then encrypts it</a:t>
            </a:r>
            <a:endParaRPr lang="en-US" sz="1400" dirty="0"/>
          </a:p>
        </p:txBody>
      </p:sp>
      <p:sp>
        <p:nvSpPr>
          <p:cNvPr id="9" name="Phone B"/>
          <p:cNvSpPr/>
          <p:nvPr/>
        </p:nvSpPr>
        <p:spPr>
          <a:xfrm>
            <a:off x="5550408" y="1554480"/>
            <a:ext cx="1097280" cy="1097280"/>
          </a:xfrm>
          <a:prstGeom prst="ellipse">
            <a:avLst/>
          </a:prstGeom>
          <a:solidFill>
            <a:schemeClr val="accent1"/>
          </a:solidFill>
          <a:ln w="12700">
            <a:solidFill>
              <a:schemeClr val="accent1"/>
            </a:solidFill>
            <a:prstDash val="solid"/>
          </a:ln>
        </p:spPr>
      </p:sp>
      <p:sp>
        <p:nvSpPr>
          <p:cNvPr id="10" name="Text 8"/>
          <p:cNvSpPr txBox="1"/>
          <p:nvPr/>
        </p:nvSpPr>
        <p:spPr>
          <a:xfrm>
            <a:off x="5550408" y="1554480"/>
            <a:ext cx="1097280" cy="1097280"/>
          </a:xfrm>
          <a:prstGeom prst="rect">
            <a:avLst/>
          </a:prstGeom>
          <a:noFill/>
          <a:ln/>
        </p:spPr>
        <p:txBody>
          <a:bodyPr wrap="square" lIns="0" tIns="0" rIns="0" bIns="0" rtlCol="0" anchor="ctr"/>
          <a:lstStyle/>
          <a:p>
            <a:pPr algn="ctr" indent="0" marL="0">
              <a:buNone/>
            </a:pPr>
            <a:r>
              <a:rPr lang="en-US" sz="3200" b="1" dirty="0">
                <a:solidFill>
                  <a:schemeClr val="tx1"/>
                </a:solidFill>
              </a:rPr>
              <a:t>B</a:t>
            </a:r>
            <a:endParaRPr lang="en-US" sz="3200" dirty="0"/>
          </a:p>
        </p:txBody>
      </p:sp>
      <p:sp>
        <p:nvSpPr>
          <p:cNvPr id="11" name="Text 9"/>
          <p:cNvSpPr txBox="1"/>
          <p:nvPr/>
        </p:nvSpPr>
        <p:spPr>
          <a:xfrm>
            <a:off x="4407408" y="2788920"/>
            <a:ext cx="3383280" cy="365760"/>
          </a:xfrm>
          <a:prstGeom prst="rect">
            <a:avLst/>
          </a:prstGeom>
          <a:noFill/>
          <a:ln/>
        </p:spPr>
        <p:txBody>
          <a:bodyPr wrap="square" lIns="0" tIns="0" rIns="0" bIns="0" rtlCol="0" anchor="ctr"/>
          <a:lstStyle/>
          <a:p>
            <a:pPr algn="ctr" indent="0" marL="0">
              <a:buNone/>
            </a:pPr>
            <a:r>
              <a:rPr lang="en-US" sz="1800" b="1" dirty="0">
                <a:solidFill>
                  <a:schemeClr val="tx1"/>
                </a:solidFill>
              </a:rPr>
              <a:t>Relay</a:t>
            </a:r>
            <a:endParaRPr lang="en-US" sz="1800" dirty="0"/>
          </a:p>
        </p:txBody>
      </p:sp>
      <p:sp>
        <p:nvSpPr>
          <p:cNvPr id="12" name="Text 10"/>
          <p:cNvSpPr txBox="1"/>
          <p:nvPr/>
        </p:nvSpPr>
        <p:spPr>
          <a:xfrm>
            <a:off x="4407408" y="3154680"/>
            <a:ext cx="3383280" cy="320040"/>
          </a:xfrm>
          <a:prstGeom prst="rect">
            <a:avLst/>
          </a:prstGeom>
          <a:noFill/>
          <a:ln/>
        </p:spPr>
        <p:txBody>
          <a:bodyPr wrap="square" lIns="0" tIns="0" rIns="0" bIns="0" rtlCol="0" anchor="ctr"/>
          <a:lstStyle/>
          <a:p>
            <a:pPr algn="ctr" indent="0" marL="0">
              <a:buNone/>
            </a:pPr>
            <a:r>
              <a:rPr lang="en-US" sz="1400" dirty="0">
                <a:solidFill>
                  <a:schemeClr val="tx2"/>
                </a:solidFill>
              </a:rPr>
              <a:t>Carries it, and stores no readable text</a:t>
            </a:r>
            <a:endParaRPr lang="en-US" sz="1400" dirty="0"/>
          </a:p>
        </p:txBody>
      </p:sp>
      <p:sp>
        <p:nvSpPr>
          <p:cNvPr id="13" name="Phone C"/>
          <p:cNvSpPr/>
          <p:nvPr/>
        </p:nvSpPr>
        <p:spPr>
          <a:xfrm>
            <a:off x="9308592" y="1554480"/>
            <a:ext cx="1097280" cy="1097280"/>
          </a:xfrm>
          <a:prstGeom prst="ellipse">
            <a:avLst/>
          </a:prstGeom>
          <a:solidFill>
            <a:schemeClr val="tx1"/>
          </a:solidFill>
          <a:ln w="12700">
            <a:solidFill>
              <a:schemeClr val="tx1"/>
            </a:solidFill>
            <a:prstDash val="solid"/>
          </a:ln>
        </p:spPr>
      </p:sp>
      <p:sp>
        <p:nvSpPr>
          <p:cNvPr id="14" name="Text 12"/>
          <p:cNvSpPr txBox="1"/>
          <p:nvPr/>
        </p:nvSpPr>
        <p:spPr>
          <a:xfrm>
            <a:off x="9308592" y="1554480"/>
            <a:ext cx="1097280" cy="1097280"/>
          </a:xfrm>
          <a:prstGeom prst="rect">
            <a:avLst/>
          </a:prstGeom>
          <a:noFill/>
          <a:ln/>
        </p:spPr>
        <p:txBody>
          <a:bodyPr wrap="square" lIns="0" tIns="0" rIns="0" bIns="0" rtlCol="0" anchor="ctr"/>
          <a:lstStyle/>
          <a:p>
            <a:pPr algn="ctr" indent="0" marL="0">
              <a:buNone/>
            </a:pPr>
            <a:r>
              <a:rPr lang="en-US" sz="3200" b="1" dirty="0">
                <a:solidFill>
                  <a:schemeClr val="bg1"/>
                </a:solidFill>
              </a:rPr>
              <a:t>C</a:t>
            </a:r>
            <a:endParaRPr lang="en-US" sz="3200" dirty="0"/>
          </a:p>
        </p:txBody>
      </p:sp>
      <p:sp>
        <p:nvSpPr>
          <p:cNvPr id="15" name="Text 13"/>
          <p:cNvSpPr txBox="1"/>
          <p:nvPr/>
        </p:nvSpPr>
        <p:spPr>
          <a:xfrm>
            <a:off x="8165592" y="2788920"/>
            <a:ext cx="3383280" cy="365760"/>
          </a:xfrm>
          <a:prstGeom prst="rect">
            <a:avLst/>
          </a:prstGeom>
          <a:noFill/>
          <a:ln/>
        </p:spPr>
        <p:txBody>
          <a:bodyPr wrap="square" lIns="0" tIns="0" rIns="0" bIns="0" rtlCol="0" anchor="ctr"/>
          <a:lstStyle/>
          <a:p>
            <a:pPr algn="ctr" indent="0" marL="0">
              <a:buNone/>
            </a:pPr>
            <a:r>
              <a:rPr lang="en-US" sz="1800" b="1" dirty="0">
                <a:solidFill>
                  <a:schemeClr val="tx1"/>
                </a:solidFill>
              </a:rPr>
              <a:t>Recipient</a:t>
            </a:r>
            <a:endParaRPr lang="en-US" sz="1800" dirty="0"/>
          </a:p>
        </p:txBody>
      </p:sp>
      <p:sp>
        <p:nvSpPr>
          <p:cNvPr id="16" name="Text 14"/>
          <p:cNvSpPr txBox="1"/>
          <p:nvPr/>
        </p:nvSpPr>
        <p:spPr>
          <a:xfrm>
            <a:off x="8165592" y="3154680"/>
            <a:ext cx="3383280" cy="320040"/>
          </a:xfrm>
          <a:prstGeom prst="rect">
            <a:avLst/>
          </a:prstGeom>
          <a:noFill/>
          <a:ln/>
        </p:spPr>
        <p:txBody>
          <a:bodyPr wrap="square" lIns="0" tIns="0" rIns="0" bIns="0" rtlCol="0" anchor="ctr"/>
          <a:lstStyle/>
          <a:p>
            <a:pPr algn="ctr" indent="0" marL="0">
              <a:buNone/>
            </a:pPr>
            <a:r>
              <a:rPr lang="en-US" sz="1400" dirty="0">
                <a:solidFill>
                  <a:schemeClr val="tx2"/>
                </a:solidFill>
              </a:rPr>
              <a:t>Decrypts it and confirms delivery</a:t>
            </a:r>
            <a:endParaRPr lang="en-US" sz="1400" dirty="0"/>
          </a:p>
        </p:txBody>
      </p:sp>
      <p:sp>
        <p:nvSpPr>
          <p:cNvPr id="17" name="No network needed"/>
          <p:cNvSpPr/>
          <p:nvPr/>
        </p:nvSpPr>
        <p:spPr>
          <a:xfrm>
            <a:off x="640080" y="4069080"/>
            <a:ext cx="3429000" cy="1600200"/>
          </a:xfrm>
          <a:prstGeom prst="roundRect">
            <a:avLst>
              <a:gd name="adj" fmla="val 5714"/>
            </a:avLst>
          </a:prstGeom>
          <a:solidFill>
            <a:schemeClr val="bg2"/>
          </a:solidFill>
          <a:ln w="12700">
            <a:solidFill>
              <a:schemeClr val="bg2"/>
            </a:solidFill>
            <a:prstDash val="solid"/>
          </a:ln>
        </p:spPr>
      </p:sp>
      <p:sp>
        <p:nvSpPr>
          <p:cNvPr id="18" name="Text 16"/>
          <p:cNvSpPr txBox="1"/>
          <p:nvPr/>
        </p:nvSpPr>
        <p:spPr>
          <a:xfrm>
            <a:off x="868680" y="4279392"/>
            <a:ext cx="2971800" cy="365760"/>
          </a:xfrm>
          <a:prstGeom prst="rect">
            <a:avLst/>
          </a:prstGeom>
          <a:noFill/>
          <a:ln/>
        </p:spPr>
        <p:txBody>
          <a:bodyPr wrap="square" lIns="0" tIns="0" rIns="0" bIns="0" rtlCol="0" anchor="ctr"/>
          <a:lstStyle/>
          <a:p>
            <a:pPr indent="0" marL="0">
              <a:buNone/>
            </a:pPr>
            <a:r>
              <a:rPr lang="en-US" sz="1800" b="1" dirty="0">
                <a:solidFill>
                  <a:schemeClr val="tx1"/>
                </a:solidFill>
              </a:rPr>
              <a:t>No network needed</a:t>
            </a:r>
            <a:endParaRPr lang="en-US" sz="1800" dirty="0"/>
          </a:p>
        </p:txBody>
      </p:sp>
      <p:sp>
        <p:nvSpPr>
          <p:cNvPr id="19" name="Text 17"/>
          <p:cNvSpPr txBox="1"/>
          <p:nvPr/>
        </p:nvSpPr>
        <p:spPr>
          <a:xfrm>
            <a:off x="868680" y="4709160"/>
            <a:ext cx="2971800" cy="777240"/>
          </a:xfrm>
          <a:prstGeom prst="rect">
            <a:avLst/>
          </a:prstGeom>
          <a:noFill/>
          <a:ln/>
        </p:spPr>
        <p:txBody>
          <a:bodyPr wrap="square" lIns="0" tIns="0" rIns="0" bIns="0" rtlCol="0" anchor="t"/>
          <a:lstStyle/>
          <a:p>
            <a:pPr indent="0" marL="0">
              <a:buNone/>
            </a:pPr>
            <a:r>
              <a:rPr lang="en-US" sz="1500" dirty="0">
                <a:solidFill>
                  <a:schemeClr val="tx2"/>
                </a:solidFill>
              </a:rPr>
              <a:t>Phones connect directly through Google Nearby Connections</a:t>
            </a:r>
            <a:endParaRPr lang="en-US" sz="1500" dirty="0"/>
          </a:p>
        </p:txBody>
      </p:sp>
      <p:sp>
        <p:nvSpPr>
          <p:cNvPr id="20" name="Nothing lost on the way"/>
          <p:cNvSpPr/>
          <p:nvPr/>
        </p:nvSpPr>
        <p:spPr>
          <a:xfrm>
            <a:off x="4379976" y="4069080"/>
            <a:ext cx="3429000" cy="1600200"/>
          </a:xfrm>
          <a:prstGeom prst="roundRect">
            <a:avLst>
              <a:gd name="adj" fmla="val 5714"/>
            </a:avLst>
          </a:prstGeom>
          <a:solidFill>
            <a:schemeClr val="bg2"/>
          </a:solidFill>
          <a:ln w="12700">
            <a:solidFill>
              <a:schemeClr val="bg2"/>
            </a:solidFill>
            <a:prstDash val="solid"/>
          </a:ln>
        </p:spPr>
      </p:sp>
      <p:sp>
        <p:nvSpPr>
          <p:cNvPr id="21" name="Text 19"/>
          <p:cNvSpPr txBox="1"/>
          <p:nvPr/>
        </p:nvSpPr>
        <p:spPr>
          <a:xfrm>
            <a:off x="4608576" y="4279392"/>
            <a:ext cx="2971800" cy="365760"/>
          </a:xfrm>
          <a:prstGeom prst="rect">
            <a:avLst/>
          </a:prstGeom>
          <a:noFill/>
          <a:ln/>
        </p:spPr>
        <p:txBody>
          <a:bodyPr wrap="square" lIns="0" tIns="0" rIns="0" bIns="0" rtlCol="0" anchor="ctr"/>
          <a:lstStyle/>
          <a:p>
            <a:pPr indent="0" marL="0">
              <a:buNone/>
            </a:pPr>
            <a:r>
              <a:rPr lang="en-US" sz="1800" b="1" dirty="0">
                <a:solidFill>
                  <a:schemeClr val="tx1"/>
                </a:solidFill>
              </a:rPr>
              <a:t>Nothing lost on the way</a:t>
            </a:r>
            <a:endParaRPr lang="en-US" sz="1800" dirty="0"/>
          </a:p>
        </p:txBody>
      </p:sp>
      <p:sp>
        <p:nvSpPr>
          <p:cNvPr id="22" name="Text 20"/>
          <p:cNvSpPr txBox="1"/>
          <p:nvPr/>
        </p:nvSpPr>
        <p:spPr>
          <a:xfrm>
            <a:off x="4608576" y="4709160"/>
            <a:ext cx="2971800" cy="777240"/>
          </a:xfrm>
          <a:prstGeom prst="rect">
            <a:avLst/>
          </a:prstGeom>
          <a:noFill/>
          <a:ln/>
        </p:spPr>
        <p:txBody>
          <a:bodyPr wrap="square" lIns="0" tIns="0" rIns="0" bIns="0" rtlCol="0" anchor="t"/>
          <a:lstStyle/>
          <a:p>
            <a:pPr indent="0" marL="0">
              <a:buNone/>
            </a:pPr>
            <a:r>
              <a:rPr lang="en-US" sz="1500" dirty="0">
                <a:solidFill>
                  <a:schemeClr val="tx2"/>
                </a:solidFill>
              </a:rPr>
              <a:t>With no path, a message waits and sends when a phone is in range</a:t>
            </a:r>
            <a:endParaRPr lang="en-US" sz="1500" dirty="0"/>
          </a:p>
        </p:txBody>
      </p:sp>
      <p:sp>
        <p:nvSpPr>
          <p:cNvPr id="23" name="Status you can trust"/>
          <p:cNvSpPr/>
          <p:nvPr/>
        </p:nvSpPr>
        <p:spPr>
          <a:xfrm>
            <a:off x="8119872" y="4069080"/>
            <a:ext cx="3429000" cy="1600200"/>
          </a:xfrm>
          <a:prstGeom prst="roundRect">
            <a:avLst>
              <a:gd name="adj" fmla="val 5714"/>
            </a:avLst>
          </a:prstGeom>
          <a:solidFill>
            <a:schemeClr val="bg2"/>
          </a:solidFill>
          <a:ln w="12700">
            <a:solidFill>
              <a:schemeClr val="bg2"/>
            </a:solidFill>
            <a:prstDash val="solid"/>
          </a:ln>
        </p:spPr>
      </p:sp>
      <p:sp>
        <p:nvSpPr>
          <p:cNvPr id="24" name="Text 22"/>
          <p:cNvSpPr txBox="1"/>
          <p:nvPr/>
        </p:nvSpPr>
        <p:spPr>
          <a:xfrm>
            <a:off x="8348472" y="4279392"/>
            <a:ext cx="2971800" cy="365760"/>
          </a:xfrm>
          <a:prstGeom prst="rect">
            <a:avLst/>
          </a:prstGeom>
          <a:noFill/>
          <a:ln/>
        </p:spPr>
        <p:txBody>
          <a:bodyPr wrap="square" lIns="0" tIns="0" rIns="0" bIns="0" rtlCol="0" anchor="ctr"/>
          <a:lstStyle/>
          <a:p>
            <a:pPr indent="0" marL="0">
              <a:buNone/>
            </a:pPr>
            <a:r>
              <a:rPr lang="en-US" sz="1800" b="1" dirty="0">
                <a:solidFill>
                  <a:schemeClr val="tx1"/>
                </a:solidFill>
              </a:rPr>
              <a:t>Status you can trust</a:t>
            </a:r>
            <a:endParaRPr lang="en-US" sz="1800" dirty="0"/>
          </a:p>
        </p:txBody>
      </p:sp>
      <p:sp>
        <p:nvSpPr>
          <p:cNvPr id="25" name="Text 23"/>
          <p:cNvSpPr txBox="1"/>
          <p:nvPr/>
        </p:nvSpPr>
        <p:spPr>
          <a:xfrm>
            <a:off x="8348472" y="4709160"/>
            <a:ext cx="2971800" cy="777240"/>
          </a:xfrm>
          <a:prstGeom prst="rect">
            <a:avLst/>
          </a:prstGeom>
          <a:noFill/>
          <a:ln/>
        </p:spPr>
        <p:txBody>
          <a:bodyPr wrap="square" lIns="0" tIns="0" rIns="0" bIns="0" rtlCol="0" anchor="t"/>
          <a:lstStyle/>
          <a:p>
            <a:pPr indent="0" marL="0">
              <a:buNone/>
            </a:pPr>
            <a:r>
              <a:rPr lang="en-US" sz="1500" dirty="0">
                <a:solidFill>
                  <a:schemeClr val="tx2"/>
                </a:solidFill>
              </a:rPr>
              <a:t>Sent, Relayed and Delivered come from real acknowledgements</a:t>
            </a:r>
            <a:endParaRPr lang="en-US" sz="1500" dirty="0"/>
          </a:p>
        </p:txBody>
      </p:sp>
      <p:sp>
        <p:nvSpPr>
          <p:cNvPr id="25" name="Slide Number Placeholder 0"/>
          <p:cNvSpPr>
            <a:spLocks noGrp="1"/>
          </p:cNvSpPr>
          <p:nvPr>
            <p:ph type="sldNum" sz="quarter" idx="4294967295"/>
          </p:nvPr>
        </p:nvSpPr>
        <p:spPr>
          <a:xfrm>
            <a:off x="1100023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600" b="1" dirty="0">
                <a:solidFill>
                  <a:schemeClr val="tx1"/>
                </a:solidFill>
              </a:rPr>
              <a:t>Required features, tested on real phones</a:t>
            </a:r>
            <a:endParaRPr lang="en-US" sz="3600" dirty="0"/>
          </a:p>
        </p:txBody>
      </p:sp>
      <p:sp>
        <p:nvSpPr>
          <p:cNvPr id="3" name="Offline messaging"/>
          <p:cNvSpPr/>
          <p:nvPr/>
        </p:nvSpPr>
        <p:spPr>
          <a:xfrm>
            <a:off x="640080" y="1417320"/>
            <a:ext cx="3429000" cy="1435608"/>
          </a:xfrm>
          <a:prstGeom prst="roundRect">
            <a:avLst>
              <a:gd name="adj" fmla="val 6369"/>
            </a:avLst>
          </a:prstGeom>
          <a:solidFill>
            <a:schemeClr val="bg2"/>
          </a:solidFill>
          <a:ln w="12700">
            <a:solidFill>
              <a:schemeClr val="bg2"/>
            </a:solidFill>
            <a:prstDash val="solid"/>
          </a:ln>
        </p:spPr>
      </p:sp>
      <p:sp>
        <p:nvSpPr>
          <p:cNvPr id="4" name="Text 2"/>
          <p:cNvSpPr txBox="1"/>
          <p:nvPr/>
        </p:nvSpPr>
        <p:spPr>
          <a:xfrm>
            <a:off x="841248" y="1581912"/>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Offline messaging</a:t>
            </a:r>
            <a:endParaRPr lang="en-US" sz="1700" dirty="0"/>
          </a:p>
        </p:txBody>
      </p:sp>
      <p:sp>
        <p:nvSpPr>
          <p:cNvPr id="5" name="Status"/>
          <p:cNvSpPr/>
          <p:nvPr/>
        </p:nvSpPr>
        <p:spPr>
          <a:xfrm>
            <a:off x="3090672" y="1600200"/>
            <a:ext cx="795528" cy="292608"/>
          </a:xfrm>
          <a:prstGeom prst="roundRect">
            <a:avLst>
              <a:gd name="adj" fmla="val 50000"/>
            </a:avLst>
          </a:prstGeom>
          <a:solidFill>
            <a:schemeClr val="accent3"/>
          </a:solidFill>
          <a:ln w="12700">
            <a:solidFill>
              <a:schemeClr val="accent3"/>
            </a:solidFill>
            <a:prstDash val="solid"/>
          </a:ln>
        </p:spPr>
      </p:sp>
      <p:sp>
        <p:nvSpPr>
          <p:cNvPr id="6" name="Text 4"/>
          <p:cNvSpPr txBox="1"/>
          <p:nvPr/>
        </p:nvSpPr>
        <p:spPr>
          <a:xfrm>
            <a:off x="3090672" y="1600200"/>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7" name="Text 5"/>
          <p:cNvSpPr txBox="1"/>
          <p:nvPr/>
        </p:nvSpPr>
        <p:spPr>
          <a:xfrm>
            <a:off x="841248" y="2011680"/>
            <a:ext cx="3017520" cy="685800"/>
          </a:xfrm>
          <a:prstGeom prst="rect">
            <a:avLst/>
          </a:prstGeom>
          <a:noFill/>
          <a:ln/>
        </p:spPr>
        <p:txBody>
          <a:bodyPr wrap="square" lIns="0" tIns="0" rIns="0" bIns="0" rtlCol="0" anchor="t"/>
          <a:lstStyle/>
          <a:p>
            <a:pPr indent="0" marL="0">
              <a:buNone/>
            </a:pPr>
            <a:r>
              <a:rPr lang="en-US" sz="1400" dirty="0">
                <a:solidFill>
                  <a:schemeClr val="tx2"/>
                </a:solidFill>
              </a:rPr>
              <a:t>Airplane mode on, Wi-Fi off</a:t>
            </a:r>
            <a:endParaRPr lang="en-US" sz="1400" dirty="0"/>
          </a:p>
        </p:txBody>
      </p:sp>
      <p:sp>
        <p:nvSpPr>
          <p:cNvPr id="8" name="Peer-to-peer"/>
          <p:cNvSpPr/>
          <p:nvPr/>
        </p:nvSpPr>
        <p:spPr>
          <a:xfrm>
            <a:off x="4379976" y="1417320"/>
            <a:ext cx="3429000" cy="1435608"/>
          </a:xfrm>
          <a:prstGeom prst="roundRect">
            <a:avLst>
              <a:gd name="adj" fmla="val 6369"/>
            </a:avLst>
          </a:prstGeom>
          <a:solidFill>
            <a:schemeClr val="bg2"/>
          </a:solidFill>
          <a:ln w="12700">
            <a:solidFill>
              <a:schemeClr val="bg2"/>
            </a:solidFill>
            <a:prstDash val="solid"/>
          </a:ln>
        </p:spPr>
      </p:sp>
      <p:sp>
        <p:nvSpPr>
          <p:cNvPr id="9" name="Text 7"/>
          <p:cNvSpPr txBox="1"/>
          <p:nvPr/>
        </p:nvSpPr>
        <p:spPr>
          <a:xfrm>
            <a:off x="4581144" y="1581912"/>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Peer-to-peer</a:t>
            </a:r>
            <a:endParaRPr lang="en-US" sz="1700" dirty="0"/>
          </a:p>
        </p:txBody>
      </p:sp>
      <p:sp>
        <p:nvSpPr>
          <p:cNvPr id="10" name="Status"/>
          <p:cNvSpPr/>
          <p:nvPr/>
        </p:nvSpPr>
        <p:spPr>
          <a:xfrm>
            <a:off x="6830568" y="1600200"/>
            <a:ext cx="795528" cy="292608"/>
          </a:xfrm>
          <a:prstGeom prst="roundRect">
            <a:avLst>
              <a:gd name="adj" fmla="val 50000"/>
            </a:avLst>
          </a:prstGeom>
          <a:solidFill>
            <a:schemeClr val="accent3"/>
          </a:solidFill>
          <a:ln w="12700">
            <a:solidFill>
              <a:schemeClr val="accent3"/>
            </a:solidFill>
            <a:prstDash val="solid"/>
          </a:ln>
        </p:spPr>
      </p:sp>
      <p:sp>
        <p:nvSpPr>
          <p:cNvPr id="11" name="Text 9"/>
          <p:cNvSpPr txBox="1"/>
          <p:nvPr/>
        </p:nvSpPr>
        <p:spPr>
          <a:xfrm>
            <a:off x="6830568" y="1600200"/>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12" name="Text 10"/>
          <p:cNvSpPr txBox="1"/>
          <p:nvPr/>
        </p:nvSpPr>
        <p:spPr>
          <a:xfrm>
            <a:off x="4581144" y="2011680"/>
            <a:ext cx="3017520" cy="685800"/>
          </a:xfrm>
          <a:prstGeom prst="rect">
            <a:avLst/>
          </a:prstGeom>
          <a:noFill/>
          <a:ln/>
        </p:spPr>
        <p:txBody>
          <a:bodyPr wrap="square" lIns="0" tIns="0" rIns="0" bIns="0" rtlCol="0" anchor="t"/>
          <a:lstStyle/>
          <a:p>
            <a:pPr indent="0" marL="0">
              <a:buNone/>
            </a:pPr>
            <a:r>
              <a:rPr lang="en-US" sz="1400" dirty="0">
                <a:solidFill>
                  <a:schemeClr val="tx2"/>
                </a:solidFill>
              </a:rPr>
              <a:t>vivo, Samsung and OnePlus</a:t>
            </a:r>
            <a:endParaRPr lang="en-US" sz="1400" dirty="0"/>
          </a:p>
        </p:txBody>
      </p:sp>
      <p:sp>
        <p:nvSpPr>
          <p:cNvPr id="13" name="Mesh relay"/>
          <p:cNvSpPr/>
          <p:nvPr/>
        </p:nvSpPr>
        <p:spPr>
          <a:xfrm>
            <a:off x="8119872" y="1417320"/>
            <a:ext cx="3429000" cy="1435608"/>
          </a:xfrm>
          <a:prstGeom prst="roundRect">
            <a:avLst>
              <a:gd name="adj" fmla="val 6369"/>
            </a:avLst>
          </a:prstGeom>
          <a:solidFill>
            <a:schemeClr val="bg2"/>
          </a:solidFill>
          <a:ln w="12700">
            <a:solidFill>
              <a:schemeClr val="bg2"/>
            </a:solidFill>
            <a:prstDash val="solid"/>
          </a:ln>
        </p:spPr>
      </p:sp>
      <p:sp>
        <p:nvSpPr>
          <p:cNvPr id="14" name="Text 12"/>
          <p:cNvSpPr txBox="1"/>
          <p:nvPr/>
        </p:nvSpPr>
        <p:spPr>
          <a:xfrm>
            <a:off x="8321040" y="1581912"/>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Mesh relay</a:t>
            </a:r>
            <a:endParaRPr lang="en-US" sz="1700" dirty="0"/>
          </a:p>
        </p:txBody>
      </p:sp>
      <p:sp>
        <p:nvSpPr>
          <p:cNvPr id="15" name="Status"/>
          <p:cNvSpPr/>
          <p:nvPr/>
        </p:nvSpPr>
        <p:spPr>
          <a:xfrm>
            <a:off x="10570464" y="1600200"/>
            <a:ext cx="795528" cy="292608"/>
          </a:xfrm>
          <a:prstGeom prst="roundRect">
            <a:avLst>
              <a:gd name="adj" fmla="val 50000"/>
            </a:avLst>
          </a:prstGeom>
          <a:solidFill>
            <a:schemeClr val="accent3"/>
          </a:solidFill>
          <a:ln w="12700">
            <a:solidFill>
              <a:schemeClr val="accent3"/>
            </a:solidFill>
            <a:prstDash val="solid"/>
          </a:ln>
        </p:spPr>
      </p:sp>
      <p:sp>
        <p:nvSpPr>
          <p:cNvPr id="16" name="Text 14"/>
          <p:cNvSpPr txBox="1"/>
          <p:nvPr/>
        </p:nvSpPr>
        <p:spPr>
          <a:xfrm>
            <a:off x="10570464" y="1600200"/>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17" name="Text 15"/>
          <p:cNvSpPr txBox="1"/>
          <p:nvPr/>
        </p:nvSpPr>
        <p:spPr>
          <a:xfrm>
            <a:off x="8321040" y="2011680"/>
            <a:ext cx="3017520" cy="685800"/>
          </a:xfrm>
          <a:prstGeom prst="rect">
            <a:avLst/>
          </a:prstGeom>
          <a:noFill/>
          <a:ln/>
        </p:spPr>
        <p:txBody>
          <a:bodyPr wrap="square" lIns="0" tIns="0" rIns="0" bIns="0" rtlCol="0" anchor="t"/>
          <a:lstStyle/>
          <a:p>
            <a:pPr indent="0" marL="0">
              <a:buNone/>
            </a:pPr>
            <a:r>
              <a:rPr lang="en-US" sz="1400" dirty="0">
                <a:solidFill>
                  <a:schemeClr val="tx2"/>
                </a:solidFill>
              </a:rPr>
              <a:t>A reached C through B in 2.6 s</a:t>
            </a:r>
            <a:endParaRPr lang="en-US" sz="1400" dirty="0"/>
          </a:p>
        </p:txBody>
      </p:sp>
      <p:sp>
        <p:nvSpPr>
          <p:cNvPr id="18" name="SOS broadcast"/>
          <p:cNvSpPr/>
          <p:nvPr/>
        </p:nvSpPr>
        <p:spPr>
          <a:xfrm>
            <a:off x="640080" y="3035808"/>
            <a:ext cx="3429000" cy="1435608"/>
          </a:xfrm>
          <a:prstGeom prst="roundRect">
            <a:avLst>
              <a:gd name="adj" fmla="val 6369"/>
            </a:avLst>
          </a:prstGeom>
          <a:solidFill>
            <a:schemeClr val="bg2"/>
          </a:solidFill>
          <a:ln w="12700">
            <a:solidFill>
              <a:schemeClr val="bg2"/>
            </a:solidFill>
            <a:prstDash val="solid"/>
          </a:ln>
        </p:spPr>
      </p:sp>
      <p:sp>
        <p:nvSpPr>
          <p:cNvPr id="19" name="Text 17"/>
          <p:cNvSpPr txBox="1"/>
          <p:nvPr/>
        </p:nvSpPr>
        <p:spPr>
          <a:xfrm>
            <a:off x="841248" y="3200400"/>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SOS broadcast</a:t>
            </a:r>
            <a:endParaRPr lang="en-US" sz="1700" dirty="0"/>
          </a:p>
        </p:txBody>
      </p:sp>
      <p:sp>
        <p:nvSpPr>
          <p:cNvPr id="20" name="Status"/>
          <p:cNvSpPr/>
          <p:nvPr/>
        </p:nvSpPr>
        <p:spPr>
          <a:xfrm>
            <a:off x="3090672" y="3218688"/>
            <a:ext cx="795528" cy="292608"/>
          </a:xfrm>
          <a:prstGeom prst="roundRect">
            <a:avLst>
              <a:gd name="adj" fmla="val 50000"/>
            </a:avLst>
          </a:prstGeom>
          <a:solidFill>
            <a:schemeClr val="accent3"/>
          </a:solidFill>
          <a:ln w="12700">
            <a:solidFill>
              <a:schemeClr val="accent3"/>
            </a:solidFill>
            <a:prstDash val="solid"/>
          </a:ln>
        </p:spPr>
      </p:sp>
      <p:sp>
        <p:nvSpPr>
          <p:cNvPr id="21" name="Text 19"/>
          <p:cNvSpPr txBox="1"/>
          <p:nvPr/>
        </p:nvSpPr>
        <p:spPr>
          <a:xfrm>
            <a:off x="3090672" y="3218688"/>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22" name="Text 20"/>
          <p:cNvSpPr txBox="1"/>
          <p:nvPr/>
        </p:nvSpPr>
        <p:spPr>
          <a:xfrm>
            <a:off x="841248" y="3630168"/>
            <a:ext cx="3017520" cy="685800"/>
          </a:xfrm>
          <a:prstGeom prst="rect">
            <a:avLst/>
          </a:prstGeom>
          <a:noFill/>
          <a:ln/>
        </p:spPr>
        <p:txBody>
          <a:bodyPr wrap="square" lIns="0" tIns="0" rIns="0" bIns="0" rtlCol="0" anchor="t"/>
          <a:lstStyle/>
          <a:p>
            <a:pPr indent="0" marL="0">
              <a:buNone/>
            </a:pPr>
            <a:r>
              <a:rPr lang="en-US" sz="1400" dirty="0">
                <a:solidFill>
                  <a:schemeClr val="tx2"/>
                </a:solidFill>
              </a:rPr>
              <a:t>Reached every phone, with or without location</a:t>
            </a:r>
            <a:endParaRPr lang="en-US" sz="1400" dirty="0"/>
          </a:p>
        </p:txBody>
      </p:sp>
      <p:sp>
        <p:nvSpPr>
          <p:cNvPr id="23" name="Message priority"/>
          <p:cNvSpPr/>
          <p:nvPr/>
        </p:nvSpPr>
        <p:spPr>
          <a:xfrm>
            <a:off x="4379976" y="3035808"/>
            <a:ext cx="3429000" cy="1435608"/>
          </a:xfrm>
          <a:prstGeom prst="roundRect">
            <a:avLst>
              <a:gd name="adj" fmla="val 6369"/>
            </a:avLst>
          </a:prstGeom>
          <a:solidFill>
            <a:schemeClr val="bg2"/>
          </a:solidFill>
          <a:ln w="12700">
            <a:solidFill>
              <a:schemeClr val="bg2"/>
            </a:solidFill>
            <a:prstDash val="solid"/>
          </a:ln>
        </p:spPr>
      </p:sp>
      <p:sp>
        <p:nvSpPr>
          <p:cNvPr id="24" name="Text 22"/>
          <p:cNvSpPr txBox="1"/>
          <p:nvPr/>
        </p:nvSpPr>
        <p:spPr>
          <a:xfrm>
            <a:off x="4581144" y="3200400"/>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Message priority</a:t>
            </a:r>
            <a:endParaRPr lang="en-US" sz="1700" dirty="0"/>
          </a:p>
        </p:txBody>
      </p:sp>
      <p:sp>
        <p:nvSpPr>
          <p:cNvPr id="25" name="Status"/>
          <p:cNvSpPr/>
          <p:nvPr/>
        </p:nvSpPr>
        <p:spPr>
          <a:xfrm>
            <a:off x="6830568" y="3218688"/>
            <a:ext cx="795528" cy="292608"/>
          </a:xfrm>
          <a:prstGeom prst="roundRect">
            <a:avLst>
              <a:gd name="adj" fmla="val 50000"/>
            </a:avLst>
          </a:prstGeom>
          <a:solidFill>
            <a:schemeClr val="accent3"/>
          </a:solidFill>
          <a:ln w="12700">
            <a:solidFill>
              <a:schemeClr val="accent3"/>
            </a:solidFill>
            <a:prstDash val="solid"/>
          </a:ln>
        </p:spPr>
      </p:sp>
      <p:sp>
        <p:nvSpPr>
          <p:cNvPr id="26" name="Text 24"/>
          <p:cNvSpPr txBox="1"/>
          <p:nvPr/>
        </p:nvSpPr>
        <p:spPr>
          <a:xfrm>
            <a:off x="6830568" y="3218688"/>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27" name="Text 25"/>
          <p:cNvSpPr txBox="1"/>
          <p:nvPr/>
        </p:nvSpPr>
        <p:spPr>
          <a:xfrm>
            <a:off x="4581144" y="3630168"/>
            <a:ext cx="3017520" cy="685800"/>
          </a:xfrm>
          <a:prstGeom prst="rect">
            <a:avLst/>
          </a:prstGeom>
          <a:noFill/>
          <a:ln/>
        </p:spPr>
        <p:txBody>
          <a:bodyPr wrap="square" lIns="0" tIns="0" rIns="0" bIns="0" rtlCol="0" anchor="t"/>
          <a:lstStyle/>
          <a:p>
            <a:pPr indent="0" marL="0">
              <a:buNone/>
            </a:pPr>
            <a:r>
              <a:rPr lang="en-US" sz="1400" dirty="0">
                <a:solidFill>
                  <a:schemeClr val="tx2"/>
                </a:solidFill>
              </a:rPr>
              <a:t>SOS arrived before 20 queued messages</a:t>
            </a:r>
            <a:endParaRPr lang="en-US" sz="1400" dirty="0"/>
          </a:p>
        </p:txBody>
      </p:sp>
      <p:sp>
        <p:nvSpPr>
          <p:cNvPr id="28" name="Delivery status"/>
          <p:cNvSpPr/>
          <p:nvPr/>
        </p:nvSpPr>
        <p:spPr>
          <a:xfrm>
            <a:off x="8119872" y="3035808"/>
            <a:ext cx="3429000" cy="1435608"/>
          </a:xfrm>
          <a:prstGeom prst="roundRect">
            <a:avLst>
              <a:gd name="adj" fmla="val 6369"/>
            </a:avLst>
          </a:prstGeom>
          <a:solidFill>
            <a:schemeClr val="bg2"/>
          </a:solidFill>
          <a:ln w="12700">
            <a:solidFill>
              <a:schemeClr val="bg2"/>
            </a:solidFill>
            <a:prstDash val="solid"/>
          </a:ln>
        </p:spPr>
      </p:sp>
      <p:sp>
        <p:nvSpPr>
          <p:cNvPr id="29" name="Text 27"/>
          <p:cNvSpPr txBox="1"/>
          <p:nvPr/>
        </p:nvSpPr>
        <p:spPr>
          <a:xfrm>
            <a:off x="8321040" y="3200400"/>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Delivery status</a:t>
            </a:r>
            <a:endParaRPr lang="en-US" sz="1700" dirty="0"/>
          </a:p>
        </p:txBody>
      </p:sp>
      <p:sp>
        <p:nvSpPr>
          <p:cNvPr id="30" name="Status"/>
          <p:cNvSpPr/>
          <p:nvPr/>
        </p:nvSpPr>
        <p:spPr>
          <a:xfrm>
            <a:off x="10570464" y="3218688"/>
            <a:ext cx="795528" cy="292608"/>
          </a:xfrm>
          <a:prstGeom prst="roundRect">
            <a:avLst>
              <a:gd name="adj" fmla="val 50000"/>
            </a:avLst>
          </a:prstGeom>
          <a:solidFill>
            <a:schemeClr val="accent3"/>
          </a:solidFill>
          <a:ln w="12700">
            <a:solidFill>
              <a:schemeClr val="accent3"/>
            </a:solidFill>
            <a:prstDash val="solid"/>
          </a:ln>
        </p:spPr>
      </p:sp>
      <p:sp>
        <p:nvSpPr>
          <p:cNvPr id="31" name="Text 29"/>
          <p:cNvSpPr txBox="1"/>
          <p:nvPr/>
        </p:nvSpPr>
        <p:spPr>
          <a:xfrm>
            <a:off x="10570464" y="3218688"/>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32" name="Text 30"/>
          <p:cNvSpPr txBox="1"/>
          <p:nvPr/>
        </p:nvSpPr>
        <p:spPr>
          <a:xfrm>
            <a:off x="8321040" y="3630168"/>
            <a:ext cx="3017520" cy="685800"/>
          </a:xfrm>
          <a:prstGeom prst="rect">
            <a:avLst/>
          </a:prstGeom>
          <a:noFill/>
          <a:ln/>
        </p:spPr>
        <p:txBody>
          <a:bodyPr wrap="square" lIns="0" tIns="0" rIns="0" bIns="0" rtlCol="0" anchor="t"/>
          <a:lstStyle/>
          <a:p>
            <a:pPr indent="0" marL="0">
              <a:buNone/>
            </a:pPr>
            <a:r>
              <a:rPr lang="en-US" sz="1400" dirty="0">
                <a:solidFill>
                  <a:schemeClr val="tx2"/>
                </a:solidFill>
              </a:rPr>
              <a:t>Pending, Sent, Relayed, Delivered</a:t>
            </a:r>
            <a:endParaRPr lang="en-US" sz="1400" dirty="0"/>
          </a:p>
        </p:txBody>
      </p:sp>
      <p:sp>
        <p:nvSpPr>
          <p:cNvPr id="33" name="Security"/>
          <p:cNvSpPr/>
          <p:nvPr/>
        </p:nvSpPr>
        <p:spPr>
          <a:xfrm>
            <a:off x="640080" y="4654296"/>
            <a:ext cx="3429000" cy="1435608"/>
          </a:xfrm>
          <a:prstGeom prst="roundRect">
            <a:avLst>
              <a:gd name="adj" fmla="val 6369"/>
            </a:avLst>
          </a:prstGeom>
          <a:solidFill>
            <a:schemeClr val="bg2"/>
          </a:solidFill>
          <a:ln w="12700">
            <a:solidFill>
              <a:schemeClr val="bg2"/>
            </a:solidFill>
            <a:prstDash val="solid"/>
          </a:ln>
        </p:spPr>
      </p:sp>
      <p:sp>
        <p:nvSpPr>
          <p:cNvPr id="34" name="Text 32"/>
          <p:cNvSpPr txBox="1"/>
          <p:nvPr/>
        </p:nvSpPr>
        <p:spPr>
          <a:xfrm>
            <a:off x="841248" y="4818888"/>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Security</a:t>
            </a:r>
            <a:endParaRPr lang="en-US" sz="1700" dirty="0"/>
          </a:p>
        </p:txBody>
      </p:sp>
      <p:sp>
        <p:nvSpPr>
          <p:cNvPr id="35" name="Status"/>
          <p:cNvSpPr/>
          <p:nvPr/>
        </p:nvSpPr>
        <p:spPr>
          <a:xfrm>
            <a:off x="3090672" y="4837176"/>
            <a:ext cx="795528" cy="292608"/>
          </a:xfrm>
          <a:prstGeom prst="roundRect">
            <a:avLst>
              <a:gd name="adj" fmla="val 50000"/>
            </a:avLst>
          </a:prstGeom>
          <a:solidFill>
            <a:schemeClr val="accent3"/>
          </a:solidFill>
          <a:ln w="12700">
            <a:solidFill>
              <a:schemeClr val="accent3"/>
            </a:solidFill>
            <a:prstDash val="solid"/>
          </a:ln>
        </p:spPr>
      </p:sp>
      <p:sp>
        <p:nvSpPr>
          <p:cNvPr id="36" name="Text 34"/>
          <p:cNvSpPr txBox="1"/>
          <p:nvPr/>
        </p:nvSpPr>
        <p:spPr>
          <a:xfrm>
            <a:off x="3090672" y="4837176"/>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37" name="Text 35"/>
          <p:cNvSpPr txBox="1"/>
          <p:nvPr/>
        </p:nvSpPr>
        <p:spPr>
          <a:xfrm>
            <a:off x="841248" y="5248656"/>
            <a:ext cx="3017520" cy="685800"/>
          </a:xfrm>
          <a:prstGeom prst="rect">
            <a:avLst/>
          </a:prstGeom>
          <a:noFill/>
          <a:ln/>
        </p:spPr>
        <p:txBody>
          <a:bodyPr wrap="square" lIns="0" tIns="0" rIns="0" bIns="0" rtlCol="0" anchor="t"/>
          <a:lstStyle/>
          <a:p>
            <a:pPr indent="0" marL="0">
              <a:buNone/>
            </a:pPr>
            <a:r>
              <a:rPr lang="en-US" sz="1400" dirty="0">
                <a:solidFill>
                  <a:schemeClr val="tx2"/>
                </a:solidFill>
              </a:rPr>
              <a:t>Encrypted and signed, with no readable text on the relay</a:t>
            </a:r>
            <a:endParaRPr lang="en-US" sz="1400" dirty="0"/>
          </a:p>
        </p:txBody>
      </p:sp>
      <p:sp>
        <p:nvSpPr>
          <p:cNvPr id="38" name="Recovery"/>
          <p:cNvSpPr/>
          <p:nvPr/>
        </p:nvSpPr>
        <p:spPr>
          <a:xfrm>
            <a:off x="4379976" y="4654296"/>
            <a:ext cx="3429000" cy="1435608"/>
          </a:xfrm>
          <a:prstGeom prst="roundRect">
            <a:avLst>
              <a:gd name="adj" fmla="val 6369"/>
            </a:avLst>
          </a:prstGeom>
          <a:solidFill>
            <a:schemeClr val="bg2"/>
          </a:solidFill>
          <a:ln w="12700">
            <a:solidFill>
              <a:schemeClr val="bg2"/>
            </a:solidFill>
            <a:prstDash val="solid"/>
          </a:ln>
        </p:spPr>
      </p:sp>
      <p:sp>
        <p:nvSpPr>
          <p:cNvPr id="39" name="Text 37"/>
          <p:cNvSpPr txBox="1"/>
          <p:nvPr/>
        </p:nvSpPr>
        <p:spPr>
          <a:xfrm>
            <a:off x="4581144" y="4818888"/>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Recovery</a:t>
            </a:r>
            <a:endParaRPr lang="en-US" sz="1700" dirty="0"/>
          </a:p>
        </p:txBody>
      </p:sp>
      <p:sp>
        <p:nvSpPr>
          <p:cNvPr id="40" name="Status"/>
          <p:cNvSpPr/>
          <p:nvPr/>
        </p:nvSpPr>
        <p:spPr>
          <a:xfrm>
            <a:off x="6830568" y="4837176"/>
            <a:ext cx="795528" cy="292608"/>
          </a:xfrm>
          <a:prstGeom prst="roundRect">
            <a:avLst>
              <a:gd name="adj" fmla="val 50000"/>
            </a:avLst>
          </a:prstGeom>
          <a:solidFill>
            <a:schemeClr val="accent3"/>
          </a:solidFill>
          <a:ln w="12700">
            <a:solidFill>
              <a:schemeClr val="accent3"/>
            </a:solidFill>
            <a:prstDash val="solid"/>
          </a:ln>
        </p:spPr>
      </p:sp>
      <p:sp>
        <p:nvSpPr>
          <p:cNvPr id="41" name="Text 39"/>
          <p:cNvSpPr txBox="1"/>
          <p:nvPr/>
        </p:nvSpPr>
        <p:spPr>
          <a:xfrm>
            <a:off x="6830568" y="4837176"/>
            <a:ext cx="795528" cy="292608"/>
          </a:xfrm>
          <a:prstGeom prst="rect">
            <a:avLst/>
          </a:prstGeom>
          <a:noFill/>
          <a:ln/>
        </p:spPr>
        <p:txBody>
          <a:bodyPr wrap="square" lIns="0" tIns="0" rIns="0" bIns="0" rtlCol="0" anchor="ctr"/>
          <a:lstStyle/>
          <a:p>
            <a:pPr algn="ctr" indent="0" marL="0">
              <a:buNone/>
            </a:pPr>
            <a:r>
              <a:rPr lang="en-US" sz="1200" b="1" dirty="0">
                <a:solidFill>
                  <a:schemeClr val="bg1"/>
                </a:solidFill>
              </a:rPr>
              <a:t>Pass</a:t>
            </a:r>
            <a:endParaRPr lang="en-US" sz="1200" dirty="0"/>
          </a:p>
        </p:txBody>
      </p:sp>
      <p:sp>
        <p:nvSpPr>
          <p:cNvPr id="42" name="Text 40"/>
          <p:cNvSpPr txBox="1"/>
          <p:nvPr/>
        </p:nvSpPr>
        <p:spPr>
          <a:xfrm>
            <a:off x="4581144" y="5248656"/>
            <a:ext cx="3017520" cy="685800"/>
          </a:xfrm>
          <a:prstGeom prst="rect">
            <a:avLst/>
          </a:prstGeom>
          <a:noFill/>
          <a:ln/>
        </p:spPr>
        <p:txBody>
          <a:bodyPr wrap="square" lIns="0" tIns="0" rIns="0" bIns="0" rtlCol="0" anchor="t"/>
          <a:lstStyle/>
          <a:p>
            <a:pPr indent="0" marL="0">
              <a:buNone/>
            </a:pPr>
            <a:r>
              <a:rPr lang="en-US" sz="1400" dirty="0">
                <a:solidFill>
                  <a:schemeClr val="tx2"/>
                </a:solidFill>
              </a:rPr>
              <a:t>Survived a restart and delivered exactly once</a:t>
            </a:r>
            <a:endParaRPr lang="en-US" sz="1400" dirty="0"/>
          </a:p>
        </p:txBody>
      </p:sp>
      <p:sp>
        <p:nvSpPr>
          <p:cNvPr id="43" name="Battery efficiency"/>
          <p:cNvSpPr/>
          <p:nvPr/>
        </p:nvSpPr>
        <p:spPr>
          <a:xfrm>
            <a:off x="8119872" y="4654296"/>
            <a:ext cx="3429000" cy="1435608"/>
          </a:xfrm>
          <a:prstGeom prst="roundRect">
            <a:avLst>
              <a:gd name="adj" fmla="val 6369"/>
            </a:avLst>
          </a:prstGeom>
          <a:solidFill>
            <a:schemeClr val="bg2"/>
          </a:solidFill>
          <a:ln w="12700">
            <a:solidFill>
              <a:schemeClr val="bg2"/>
            </a:solidFill>
            <a:prstDash val="solid"/>
          </a:ln>
        </p:spPr>
      </p:sp>
      <p:sp>
        <p:nvSpPr>
          <p:cNvPr id="44" name="Text 42"/>
          <p:cNvSpPr txBox="1"/>
          <p:nvPr/>
        </p:nvSpPr>
        <p:spPr>
          <a:xfrm>
            <a:off x="8321040" y="4818888"/>
            <a:ext cx="2194560" cy="347472"/>
          </a:xfrm>
          <a:prstGeom prst="rect">
            <a:avLst/>
          </a:prstGeom>
          <a:noFill/>
          <a:ln/>
        </p:spPr>
        <p:txBody>
          <a:bodyPr wrap="square" lIns="0" tIns="0" rIns="0" bIns="0" rtlCol="0" anchor="ctr"/>
          <a:lstStyle/>
          <a:p>
            <a:pPr indent="0" marL="0">
              <a:buNone/>
            </a:pPr>
            <a:r>
              <a:rPr lang="en-US" sz="1700" b="1" dirty="0">
                <a:solidFill>
                  <a:schemeClr val="tx1"/>
                </a:solidFill>
              </a:rPr>
              <a:t>Battery efficiency</a:t>
            </a:r>
            <a:endParaRPr lang="en-US" sz="1700" dirty="0"/>
          </a:p>
        </p:txBody>
      </p:sp>
      <p:sp>
        <p:nvSpPr>
          <p:cNvPr id="45" name="Status"/>
          <p:cNvSpPr/>
          <p:nvPr/>
        </p:nvSpPr>
        <p:spPr>
          <a:xfrm>
            <a:off x="10570464" y="4837176"/>
            <a:ext cx="795528" cy="292608"/>
          </a:xfrm>
          <a:prstGeom prst="roundRect">
            <a:avLst>
              <a:gd name="adj" fmla="val 50000"/>
            </a:avLst>
          </a:prstGeom>
          <a:solidFill>
            <a:schemeClr val="accent1"/>
          </a:solidFill>
          <a:ln w="12700">
            <a:solidFill>
              <a:schemeClr val="accent1"/>
            </a:solidFill>
            <a:prstDash val="solid"/>
          </a:ln>
        </p:spPr>
      </p:sp>
      <p:sp>
        <p:nvSpPr>
          <p:cNvPr id="46" name="Text 44"/>
          <p:cNvSpPr txBox="1"/>
          <p:nvPr/>
        </p:nvSpPr>
        <p:spPr>
          <a:xfrm>
            <a:off x="10570464" y="4837176"/>
            <a:ext cx="795528" cy="292608"/>
          </a:xfrm>
          <a:prstGeom prst="rect">
            <a:avLst/>
          </a:prstGeom>
          <a:noFill/>
          <a:ln/>
        </p:spPr>
        <p:txBody>
          <a:bodyPr wrap="square" lIns="0" tIns="0" rIns="0" bIns="0" rtlCol="0" anchor="ctr"/>
          <a:lstStyle/>
          <a:p>
            <a:pPr algn="ctr" indent="0" marL="0">
              <a:buNone/>
            </a:pPr>
            <a:r>
              <a:rPr lang="en-US" sz="1200" b="1" dirty="0">
                <a:solidFill>
                  <a:schemeClr val="tx1"/>
                </a:solidFill>
              </a:rPr>
              <a:t>Partial</a:t>
            </a:r>
            <a:endParaRPr lang="en-US" sz="1200" dirty="0"/>
          </a:p>
        </p:txBody>
      </p:sp>
      <p:sp>
        <p:nvSpPr>
          <p:cNvPr id="47" name="Text 45"/>
          <p:cNvSpPr txBox="1"/>
          <p:nvPr/>
        </p:nvSpPr>
        <p:spPr>
          <a:xfrm>
            <a:off x="8321040" y="5248656"/>
            <a:ext cx="3017520" cy="685800"/>
          </a:xfrm>
          <a:prstGeom prst="rect">
            <a:avLst/>
          </a:prstGeom>
          <a:noFill/>
          <a:ln/>
        </p:spPr>
        <p:txBody>
          <a:bodyPr wrap="square" lIns="0" tIns="0" rIns="0" bIns="0" rtlCol="0" anchor="t"/>
          <a:lstStyle/>
          <a:p>
            <a:pPr indent="0" marL="0">
              <a:buNone/>
            </a:pPr>
            <a:r>
              <a:rPr lang="en-US" sz="1400" dirty="0">
                <a:solidFill>
                  <a:schemeClr val="tx2"/>
                </a:solidFill>
              </a:rPr>
              <a:t>Scan modes work, but drain isn't measured</a:t>
            </a:r>
            <a:endParaRPr lang="en-US" sz="1400" dirty="0"/>
          </a:p>
        </p:txBody>
      </p:sp>
      <p:sp>
        <p:nvSpPr>
          <p:cNvPr id="25" name="Slide Number Placeholder 0"/>
          <p:cNvSpPr>
            <a:spLocks noGrp="1"/>
          </p:cNvSpPr>
          <p:nvPr>
            <p:ph type="sldNum" sz="quarter" idx="4294967295"/>
          </p:nvPr>
        </p:nvSpPr>
        <p:spPr>
          <a:xfrm>
            <a:off x="1100023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600" b="1" dirty="0">
                <a:solidFill>
                  <a:schemeClr val="tx1"/>
                </a:solidFill>
              </a:rPr>
              <a:t>More than message hopping</a:t>
            </a:r>
            <a:endParaRPr lang="en-US" sz="3600" dirty="0"/>
          </a:p>
        </p:txBody>
      </p:sp>
      <p:sp>
        <p:nvSpPr>
          <p:cNvPr id="3" name="For responders"/>
          <p:cNvSpPr/>
          <p:nvPr/>
        </p:nvSpPr>
        <p:spPr>
          <a:xfrm>
            <a:off x="640080" y="1417320"/>
            <a:ext cx="5303520" cy="4343400"/>
          </a:xfrm>
          <a:prstGeom prst="roundRect">
            <a:avLst>
              <a:gd name="adj" fmla="val 2105"/>
            </a:avLst>
          </a:prstGeom>
          <a:solidFill>
            <a:schemeClr val="bg2"/>
          </a:solidFill>
          <a:ln w="12700">
            <a:solidFill>
              <a:schemeClr val="bg2"/>
            </a:solidFill>
            <a:prstDash val="solid"/>
          </a:ln>
        </p:spPr>
      </p:sp>
      <p:sp>
        <p:nvSpPr>
          <p:cNvPr id="4" name="Text 2"/>
          <p:cNvSpPr txBox="1"/>
          <p:nvPr/>
        </p:nvSpPr>
        <p:spPr>
          <a:xfrm>
            <a:off x="914400" y="1600200"/>
            <a:ext cx="4754880" cy="384048"/>
          </a:xfrm>
          <a:prstGeom prst="rect">
            <a:avLst/>
          </a:prstGeom>
          <a:noFill/>
          <a:ln/>
        </p:spPr>
        <p:txBody>
          <a:bodyPr wrap="square" lIns="0" tIns="0" rIns="0" bIns="0" rtlCol="0" anchor="ctr"/>
          <a:lstStyle/>
          <a:p>
            <a:pPr indent="0" marL="0">
              <a:buNone/>
            </a:pPr>
            <a:r>
              <a:rPr lang="en-US" sz="2000" b="1" dirty="0">
                <a:solidFill>
                  <a:schemeClr val="tx1"/>
                </a:solidFill>
              </a:rPr>
              <a:t>For responders</a:t>
            </a:r>
            <a:endParaRPr lang="en-US" sz="2000" dirty="0"/>
          </a:p>
        </p:txBody>
      </p:sp>
      <p:sp>
        <p:nvSpPr>
          <p:cNvPr id="5" name="Point"/>
          <p:cNvSpPr/>
          <p:nvPr/>
        </p:nvSpPr>
        <p:spPr>
          <a:xfrm>
            <a:off x="914400" y="2203704"/>
            <a:ext cx="274320" cy="274320"/>
          </a:xfrm>
          <a:prstGeom prst="ellipse">
            <a:avLst/>
          </a:prstGeom>
          <a:solidFill>
            <a:schemeClr val="accent1"/>
          </a:solidFill>
          <a:ln w="12700">
            <a:solidFill>
              <a:schemeClr val="accent1"/>
            </a:solidFill>
            <a:prstDash val="solid"/>
          </a:ln>
        </p:spPr>
      </p:sp>
      <p:sp>
        <p:nvSpPr>
          <p:cNvPr id="6" name="Text 4"/>
          <p:cNvSpPr txBox="1"/>
          <p:nvPr/>
        </p:nvSpPr>
        <p:spPr>
          <a:xfrm>
            <a:off x="1371600" y="2212848"/>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Three offline logins</a:t>
            </a:r>
            <a:endParaRPr lang="en-US" sz="1600" dirty="0"/>
          </a:p>
        </p:txBody>
      </p:sp>
      <p:sp>
        <p:nvSpPr>
          <p:cNvPr id="7" name="Text 5"/>
          <p:cNvSpPr txBox="1"/>
          <p:nvPr/>
        </p:nvSpPr>
        <p:spPr>
          <a:xfrm>
            <a:off x="1371600" y="2514600"/>
            <a:ext cx="4343400" cy="457200"/>
          </a:xfrm>
          <a:prstGeom prst="rect">
            <a:avLst/>
          </a:prstGeom>
          <a:noFill/>
          <a:ln/>
        </p:spPr>
        <p:txBody>
          <a:bodyPr wrap="square" lIns="0" tIns="0" rIns="0" bIns="0" rtlCol="0" anchor="t"/>
          <a:lstStyle/>
          <a:p>
            <a:pPr indent="0" marL="0">
              <a:buNone/>
            </a:pPr>
            <a:r>
              <a:rPr lang="en-US" sz="1400" dirty="0">
                <a:solidFill>
                  <a:schemeClr val="tx2"/>
                </a:solidFill>
              </a:rPr>
              <a:t>User, Responder and Admin</a:t>
            </a:r>
            <a:endParaRPr lang="en-US" sz="1400" dirty="0"/>
          </a:p>
        </p:txBody>
      </p:sp>
      <p:sp>
        <p:nvSpPr>
          <p:cNvPr id="8" name="Point"/>
          <p:cNvSpPr/>
          <p:nvPr/>
        </p:nvSpPr>
        <p:spPr>
          <a:xfrm>
            <a:off x="914400" y="3054096"/>
            <a:ext cx="274320" cy="274320"/>
          </a:xfrm>
          <a:prstGeom prst="ellipse">
            <a:avLst/>
          </a:prstGeom>
          <a:solidFill>
            <a:schemeClr val="accent1"/>
          </a:solidFill>
          <a:ln w="12700">
            <a:solidFill>
              <a:schemeClr val="accent1"/>
            </a:solidFill>
            <a:prstDash val="solid"/>
          </a:ln>
        </p:spPr>
      </p:sp>
      <p:sp>
        <p:nvSpPr>
          <p:cNvPr id="9" name="Text 7"/>
          <p:cNvSpPr txBox="1"/>
          <p:nvPr/>
        </p:nvSpPr>
        <p:spPr>
          <a:xfrm>
            <a:off x="1371600" y="3063240"/>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Area alerts</a:t>
            </a:r>
            <a:endParaRPr lang="en-US" sz="1600" dirty="0"/>
          </a:p>
        </p:txBody>
      </p:sp>
      <p:sp>
        <p:nvSpPr>
          <p:cNvPr id="10" name="Text 8"/>
          <p:cNvSpPr txBox="1"/>
          <p:nvPr/>
        </p:nvSpPr>
        <p:spPr>
          <a:xfrm>
            <a:off x="1371600" y="3364992"/>
            <a:ext cx="4343400" cy="457200"/>
          </a:xfrm>
          <a:prstGeom prst="rect">
            <a:avLst/>
          </a:prstGeom>
          <a:noFill/>
          <a:ln/>
        </p:spPr>
        <p:txBody>
          <a:bodyPr wrap="square" lIns="0" tIns="0" rIns="0" bIns="0" rtlCol="0" anchor="t"/>
          <a:lstStyle/>
          <a:p>
            <a:pPr indent="0" marL="0">
              <a:buNone/>
            </a:pPr>
            <a:r>
              <a:rPr lang="en-US" sz="1400" dirty="0">
                <a:solidFill>
                  <a:schemeClr val="tx2"/>
                </a:solidFill>
              </a:rPr>
              <a:t>All phones relay it, but only those inside show it</a:t>
            </a:r>
            <a:endParaRPr lang="en-US" sz="1400" dirty="0"/>
          </a:p>
        </p:txBody>
      </p:sp>
      <p:sp>
        <p:nvSpPr>
          <p:cNvPr id="11" name="Point"/>
          <p:cNvSpPr/>
          <p:nvPr/>
        </p:nvSpPr>
        <p:spPr>
          <a:xfrm>
            <a:off x="914400" y="3904488"/>
            <a:ext cx="274320" cy="274320"/>
          </a:xfrm>
          <a:prstGeom prst="ellipse">
            <a:avLst/>
          </a:prstGeom>
          <a:solidFill>
            <a:schemeClr val="accent1"/>
          </a:solidFill>
          <a:ln w="12700">
            <a:solidFill>
              <a:schemeClr val="accent1"/>
            </a:solidFill>
            <a:prstDash val="solid"/>
          </a:ln>
        </p:spPr>
      </p:sp>
      <p:sp>
        <p:nvSpPr>
          <p:cNvPr id="12" name="Text 10"/>
          <p:cNvSpPr txBox="1"/>
          <p:nvPr/>
        </p:nvSpPr>
        <p:spPr>
          <a:xfrm>
            <a:off x="1371600" y="3913632"/>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Admin location view</a:t>
            </a:r>
            <a:endParaRPr lang="en-US" sz="1600" dirty="0"/>
          </a:p>
        </p:txBody>
      </p:sp>
      <p:sp>
        <p:nvSpPr>
          <p:cNvPr id="13" name="Text 11"/>
          <p:cNvSpPr txBox="1"/>
          <p:nvPr/>
        </p:nvSpPr>
        <p:spPr>
          <a:xfrm>
            <a:off x="1371600" y="4215384"/>
            <a:ext cx="4343400" cy="457200"/>
          </a:xfrm>
          <a:prstGeom prst="rect">
            <a:avLst/>
          </a:prstGeom>
          <a:noFill/>
          <a:ln/>
        </p:spPr>
        <p:txBody>
          <a:bodyPr wrap="square" lIns="0" tIns="0" rIns="0" bIns="0" rtlCol="0" anchor="t"/>
          <a:lstStyle/>
          <a:p>
            <a:pPr indent="0" marL="0">
              <a:buNone/>
            </a:pPr>
            <a:r>
              <a:rPr lang="en-US" sz="1400" dirty="0">
                <a:solidFill>
                  <a:schemeClr val="tx2"/>
                </a:solidFill>
              </a:rPr>
              <a:t>Distance and direction to each SOS, with no maps</a:t>
            </a:r>
            <a:endParaRPr lang="en-US" sz="1400" dirty="0"/>
          </a:p>
        </p:txBody>
      </p:sp>
      <p:sp>
        <p:nvSpPr>
          <p:cNvPr id="14" name="Point"/>
          <p:cNvSpPr/>
          <p:nvPr/>
        </p:nvSpPr>
        <p:spPr>
          <a:xfrm>
            <a:off x="914400" y="4754880"/>
            <a:ext cx="274320" cy="274320"/>
          </a:xfrm>
          <a:prstGeom prst="ellipse">
            <a:avLst/>
          </a:prstGeom>
          <a:solidFill>
            <a:schemeClr val="accent1"/>
          </a:solidFill>
          <a:ln w="12700">
            <a:solidFill>
              <a:schemeClr val="accent1"/>
            </a:solidFill>
            <a:prstDash val="solid"/>
          </a:ln>
        </p:spPr>
      </p:sp>
      <p:sp>
        <p:nvSpPr>
          <p:cNvPr id="15" name="Text 13"/>
          <p:cNvSpPr txBox="1"/>
          <p:nvPr/>
        </p:nvSpPr>
        <p:spPr>
          <a:xfrm>
            <a:off x="1371600" y="4764024"/>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Shortest route first</a:t>
            </a:r>
            <a:endParaRPr lang="en-US" sz="1600" dirty="0"/>
          </a:p>
        </p:txBody>
      </p:sp>
      <p:sp>
        <p:nvSpPr>
          <p:cNvPr id="16" name="Text 14"/>
          <p:cNvSpPr txBox="1"/>
          <p:nvPr/>
        </p:nvSpPr>
        <p:spPr>
          <a:xfrm>
            <a:off x="1371600" y="5065776"/>
            <a:ext cx="4343400" cy="457200"/>
          </a:xfrm>
          <a:prstGeom prst="rect">
            <a:avLst/>
          </a:prstGeom>
          <a:noFill/>
          <a:ln/>
        </p:spPr>
        <p:txBody>
          <a:bodyPr wrap="square" lIns="0" tIns="0" rIns="0" bIns="0" rtlCol="0" anchor="t"/>
          <a:lstStyle/>
          <a:p>
            <a:pPr indent="0" marL="0">
              <a:buNone/>
            </a:pPr>
            <a:r>
              <a:rPr lang="en-US" sz="1400" dirty="0">
                <a:solidFill>
                  <a:schemeClr val="tx2"/>
                </a:solidFill>
              </a:rPr>
              <a:t>Direct messages try the fewest hops, then fall back</a:t>
            </a:r>
            <a:endParaRPr lang="en-US" sz="1400" dirty="0"/>
          </a:p>
        </p:txBody>
      </p:sp>
      <p:sp>
        <p:nvSpPr>
          <p:cNvPr id="17" name="For people who can't reach their phone"/>
          <p:cNvSpPr/>
          <p:nvPr/>
        </p:nvSpPr>
        <p:spPr>
          <a:xfrm>
            <a:off x="6245352" y="1417320"/>
            <a:ext cx="5303520" cy="4343400"/>
          </a:xfrm>
          <a:prstGeom prst="roundRect">
            <a:avLst>
              <a:gd name="adj" fmla="val 2105"/>
            </a:avLst>
          </a:prstGeom>
          <a:solidFill>
            <a:schemeClr val="bg2"/>
          </a:solidFill>
          <a:ln w="12700">
            <a:solidFill>
              <a:schemeClr val="bg2"/>
            </a:solidFill>
            <a:prstDash val="solid"/>
          </a:ln>
        </p:spPr>
      </p:sp>
      <p:sp>
        <p:nvSpPr>
          <p:cNvPr id="18" name="Text 16"/>
          <p:cNvSpPr txBox="1"/>
          <p:nvPr/>
        </p:nvSpPr>
        <p:spPr>
          <a:xfrm>
            <a:off x="6519672" y="1600200"/>
            <a:ext cx="4754880" cy="384048"/>
          </a:xfrm>
          <a:prstGeom prst="rect">
            <a:avLst/>
          </a:prstGeom>
          <a:noFill/>
          <a:ln/>
        </p:spPr>
        <p:txBody>
          <a:bodyPr wrap="square" lIns="0" tIns="0" rIns="0" bIns="0" rtlCol="0" anchor="ctr"/>
          <a:lstStyle/>
          <a:p>
            <a:pPr indent="0" marL="0">
              <a:buNone/>
            </a:pPr>
            <a:r>
              <a:rPr lang="en-US" sz="2000" b="1" dirty="0">
                <a:solidFill>
                  <a:schemeClr val="tx1"/>
                </a:solidFill>
              </a:rPr>
              <a:t>For people who can't reach their phone</a:t>
            </a:r>
            <a:endParaRPr lang="en-US" sz="2000" dirty="0"/>
          </a:p>
        </p:txBody>
      </p:sp>
      <p:sp>
        <p:nvSpPr>
          <p:cNvPr id="19" name="Point"/>
          <p:cNvSpPr/>
          <p:nvPr/>
        </p:nvSpPr>
        <p:spPr>
          <a:xfrm>
            <a:off x="6519672" y="2203704"/>
            <a:ext cx="274320" cy="274320"/>
          </a:xfrm>
          <a:prstGeom prst="ellipse">
            <a:avLst/>
          </a:prstGeom>
          <a:solidFill>
            <a:schemeClr val="accent2"/>
          </a:solidFill>
          <a:ln w="12700">
            <a:solidFill>
              <a:schemeClr val="accent2"/>
            </a:solidFill>
            <a:prstDash val="solid"/>
          </a:ln>
        </p:spPr>
      </p:sp>
      <p:sp>
        <p:nvSpPr>
          <p:cNvPr id="20" name="Text 18"/>
          <p:cNvSpPr txBox="1"/>
          <p:nvPr/>
        </p:nvSpPr>
        <p:spPr>
          <a:xfrm>
            <a:off x="6976872" y="2212848"/>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Call-Out</a:t>
            </a:r>
            <a:endParaRPr lang="en-US" sz="1600" dirty="0"/>
          </a:p>
        </p:txBody>
      </p:sp>
      <p:sp>
        <p:nvSpPr>
          <p:cNvPr id="21" name="Text 19"/>
          <p:cNvSpPr txBox="1"/>
          <p:nvPr/>
        </p:nvSpPr>
        <p:spPr>
          <a:xfrm>
            <a:off x="6976872" y="2514600"/>
            <a:ext cx="4343400" cy="457200"/>
          </a:xfrm>
          <a:prstGeom prst="rect">
            <a:avLst/>
          </a:prstGeom>
          <a:noFill/>
          <a:ln/>
        </p:spPr>
        <p:txBody>
          <a:bodyPr wrap="square" lIns="0" tIns="0" rIns="0" bIns="0" rtlCol="0" anchor="t"/>
          <a:lstStyle/>
          <a:p>
            <a:pPr indent="0" marL="0">
              <a:buNone/>
            </a:pPr>
            <a:r>
              <a:rPr lang="en-US" sz="1400" dirty="0">
                <a:solidFill>
                  <a:schemeClr val="tx2"/>
                </a:solidFill>
              </a:rPr>
              <a:t>Rings and flashes a hidden phone in SOS mode</a:t>
            </a:r>
            <a:endParaRPr lang="en-US" sz="1400" dirty="0"/>
          </a:p>
        </p:txBody>
      </p:sp>
      <p:sp>
        <p:nvSpPr>
          <p:cNvPr id="22" name="Point"/>
          <p:cNvSpPr/>
          <p:nvPr/>
        </p:nvSpPr>
        <p:spPr>
          <a:xfrm>
            <a:off x="6519672" y="3054096"/>
            <a:ext cx="274320" cy="274320"/>
          </a:xfrm>
          <a:prstGeom prst="ellipse">
            <a:avLst/>
          </a:prstGeom>
          <a:solidFill>
            <a:schemeClr val="accent2"/>
          </a:solidFill>
          <a:ln w="12700">
            <a:solidFill>
              <a:schemeClr val="accent2"/>
            </a:solidFill>
            <a:prstDash val="solid"/>
          </a:ln>
        </p:spPr>
      </p:sp>
      <p:sp>
        <p:nvSpPr>
          <p:cNvPr id="23" name="Text 21"/>
          <p:cNvSpPr txBox="1"/>
          <p:nvPr/>
        </p:nvSpPr>
        <p:spPr>
          <a:xfrm>
            <a:off x="6976872" y="3063240"/>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Talk-Back</a:t>
            </a:r>
            <a:endParaRPr lang="en-US" sz="1600" dirty="0"/>
          </a:p>
        </p:txBody>
      </p:sp>
      <p:sp>
        <p:nvSpPr>
          <p:cNvPr id="24" name="Text 22"/>
          <p:cNvSpPr txBox="1"/>
          <p:nvPr/>
        </p:nvSpPr>
        <p:spPr>
          <a:xfrm>
            <a:off x="6976872" y="3364992"/>
            <a:ext cx="4343400" cy="457200"/>
          </a:xfrm>
          <a:prstGeom prst="rect">
            <a:avLst/>
          </a:prstGeom>
          <a:noFill/>
          <a:ln/>
        </p:spPr>
        <p:txBody>
          <a:bodyPr wrap="square" lIns="0" tIns="0" rIns="0" bIns="0" rtlCol="0" anchor="t"/>
          <a:lstStyle/>
          <a:p>
            <a:pPr indent="0" marL="0">
              <a:buNone/>
            </a:pPr>
            <a:r>
              <a:rPr lang="en-US" sz="1400" dirty="0">
                <a:solidFill>
                  <a:schemeClr val="tx2"/>
                </a:solidFill>
              </a:rPr>
              <a:t>Speaks a rescuer's question and sends back the reply</a:t>
            </a:r>
            <a:endParaRPr lang="en-US" sz="1400" dirty="0"/>
          </a:p>
        </p:txBody>
      </p:sp>
      <p:sp>
        <p:nvSpPr>
          <p:cNvPr id="25" name="Point"/>
          <p:cNvSpPr/>
          <p:nvPr/>
        </p:nvSpPr>
        <p:spPr>
          <a:xfrm>
            <a:off x="6519672" y="3904488"/>
            <a:ext cx="274320" cy="274320"/>
          </a:xfrm>
          <a:prstGeom prst="ellipse">
            <a:avLst/>
          </a:prstGeom>
          <a:solidFill>
            <a:schemeClr val="accent2"/>
          </a:solidFill>
          <a:ln w="12700">
            <a:solidFill>
              <a:schemeClr val="accent2"/>
            </a:solidFill>
            <a:prstDash val="solid"/>
          </a:ln>
        </p:spPr>
      </p:sp>
      <p:sp>
        <p:nvSpPr>
          <p:cNvPr id="26" name="Text 24"/>
          <p:cNvSpPr txBox="1"/>
          <p:nvPr/>
        </p:nvSpPr>
        <p:spPr>
          <a:xfrm>
            <a:off x="6976872" y="3913632"/>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Last Breath</a:t>
            </a:r>
            <a:endParaRPr lang="en-US" sz="1600" dirty="0"/>
          </a:p>
        </p:txBody>
      </p:sp>
      <p:sp>
        <p:nvSpPr>
          <p:cNvPr id="27" name="Text 25"/>
          <p:cNvSpPr txBox="1"/>
          <p:nvPr/>
        </p:nvSpPr>
        <p:spPr>
          <a:xfrm>
            <a:off x="6976872" y="4215384"/>
            <a:ext cx="4343400" cy="457200"/>
          </a:xfrm>
          <a:prstGeom prst="rect">
            <a:avLst/>
          </a:prstGeom>
          <a:noFill/>
          <a:ln/>
        </p:spPr>
        <p:txBody>
          <a:bodyPr wrap="square" lIns="0" tIns="0" rIns="0" bIns="0" rtlCol="0" anchor="t"/>
          <a:lstStyle/>
          <a:p>
            <a:pPr indent="0" marL="0">
              <a:buNone/>
            </a:pPr>
            <a:r>
              <a:rPr lang="en-US" sz="1400" dirty="0">
                <a:solidFill>
                  <a:schemeClr val="tx2"/>
                </a:solidFill>
              </a:rPr>
              <a:t>Sends one final SOS when the battery is nearly gone</a:t>
            </a:r>
            <a:endParaRPr lang="en-US" sz="1400" dirty="0"/>
          </a:p>
        </p:txBody>
      </p:sp>
      <p:sp>
        <p:nvSpPr>
          <p:cNvPr id="28" name="Point"/>
          <p:cNvSpPr/>
          <p:nvPr/>
        </p:nvSpPr>
        <p:spPr>
          <a:xfrm>
            <a:off x="6519672" y="4754880"/>
            <a:ext cx="274320" cy="274320"/>
          </a:xfrm>
          <a:prstGeom prst="ellipse">
            <a:avLst/>
          </a:prstGeom>
          <a:solidFill>
            <a:schemeClr val="accent2"/>
          </a:solidFill>
          <a:ln w="12700">
            <a:solidFill>
              <a:schemeClr val="accent2"/>
            </a:solidFill>
            <a:prstDash val="solid"/>
          </a:ln>
        </p:spPr>
      </p:sp>
      <p:sp>
        <p:nvSpPr>
          <p:cNvPr id="29" name="Text 27"/>
          <p:cNvSpPr txBox="1"/>
          <p:nvPr/>
        </p:nvSpPr>
        <p:spPr>
          <a:xfrm>
            <a:off x="6976872" y="4764024"/>
            <a:ext cx="4343400" cy="292608"/>
          </a:xfrm>
          <a:prstGeom prst="rect">
            <a:avLst/>
          </a:prstGeom>
          <a:noFill/>
          <a:ln/>
        </p:spPr>
        <p:txBody>
          <a:bodyPr wrap="square" lIns="0" tIns="0" rIns="0" bIns="0" rtlCol="0" anchor="ctr"/>
          <a:lstStyle/>
          <a:p>
            <a:pPr indent="0" marL="0">
              <a:buNone/>
            </a:pPr>
            <a:r>
              <a:rPr lang="en-US" sz="1600" b="1" dirty="0">
                <a:solidFill>
                  <a:schemeClr val="tx1"/>
                </a:solidFill>
              </a:rPr>
              <a:t>No-app SOS</a:t>
            </a:r>
            <a:endParaRPr lang="en-US" sz="1600" dirty="0"/>
          </a:p>
        </p:txBody>
      </p:sp>
      <p:sp>
        <p:nvSpPr>
          <p:cNvPr id="30" name="Text 28"/>
          <p:cNvSpPr txBox="1"/>
          <p:nvPr/>
        </p:nvSpPr>
        <p:spPr>
          <a:xfrm>
            <a:off x="6976872" y="5065776"/>
            <a:ext cx="4343400" cy="457200"/>
          </a:xfrm>
          <a:prstGeom prst="rect">
            <a:avLst/>
          </a:prstGeom>
          <a:noFill/>
          <a:ln/>
        </p:spPr>
        <p:txBody>
          <a:bodyPr wrap="square" lIns="0" tIns="0" rIns="0" bIns="0" rtlCol="0" anchor="t"/>
          <a:lstStyle/>
          <a:p>
            <a:pPr indent="0" marL="0">
              <a:buNone/>
            </a:pPr>
            <a:r>
              <a:rPr lang="en-US" sz="1400" dirty="0">
                <a:solidFill>
                  <a:schemeClr val="tx2"/>
                </a:solidFill>
              </a:rPr>
              <a:t>Hears SOS Bluetooth names, simulated so far</a:t>
            </a:r>
            <a:endParaRPr lang="en-US" sz="1400" dirty="0"/>
          </a:p>
        </p:txBody>
      </p:sp>
      <p:sp>
        <p:nvSpPr>
          <p:cNvPr id="31" name="Text 29"/>
          <p:cNvSpPr txBox="1"/>
          <p:nvPr/>
        </p:nvSpPr>
        <p:spPr>
          <a:xfrm>
            <a:off x="640080" y="5897880"/>
            <a:ext cx="10881360" cy="292608"/>
          </a:xfrm>
          <a:prstGeom prst="rect">
            <a:avLst/>
          </a:prstGeom>
          <a:noFill/>
          <a:ln/>
        </p:spPr>
        <p:txBody>
          <a:bodyPr wrap="square" lIns="0" tIns="0" rIns="0" bIns="0" rtlCol="0" anchor="ctr"/>
          <a:lstStyle/>
          <a:p>
            <a:pPr indent="0" marL="0">
              <a:buNone/>
            </a:pPr>
            <a:r>
              <a:rPr lang="en-US" sz="1400" dirty="0">
                <a:solidFill>
                  <a:schemeClr val="tx2"/>
                </a:solidFill>
              </a:rPr>
              <a:t>Also built: a laptop relay node and an optional AI dashboard for triage and translation.</a:t>
            </a:r>
            <a:endParaRPr lang="en-US" sz="1400" dirty="0"/>
          </a:p>
        </p:txBody>
      </p:sp>
      <p:sp>
        <p:nvSpPr>
          <p:cNvPr id="25" name="Slide Number Placeholder 0"/>
          <p:cNvSpPr>
            <a:spLocks noGrp="1"/>
          </p:cNvSpPr>
          <p:nvPr>
            <p:ph type="sldNum" sz="quarter" idx="4294967295"/>
          </p:nvPr>
        </p:nvSpPr>
        <p:spPr>
          <a:xfrm>
            <a:off x="1100023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600" b="1" dirty="0">
                <a:solidFill>
                  <a:schemeClr val="tx1"/>
                </a:solidFill>
              </a:rPr>
              <a:t>Results from our tests</a:t>
            </a:r>
            <a:endParaRPr lang="en-US" sz="3600" dirty="0"/>
          </a:p>
        </p:txBody>
      </p:sp>
      <p:sp>
        <p:nvSpPr>
          <p:cNvPr id="3" name="2.6 s"/>
          <p:cNvSpPr/>
          <p:nvPr/>
        </p:nvSpPr>
        <p:spPr>
          <a:xfrm>
            <a:off x="640080" y="1417320"/>
            <a:ext cx="2834640"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868680" y="1645920"/>
            <a:ext cx="2377440" cy="868680"/>
          </a:xfrm>
          <a:prstGeom prst="rect">
            <a:avLst/>
          </a:prstGeom>
          <a:noFill/>
          <a:ln/>
        </p:spPr>
        <p:txBody>
          <a:bodyPr wrap="square" lIns="0" tIns="0" rIns="0" bIns="0" rtlCol="0" anchor="ctr"/>
          <a:lstStyle/>
          <a:p>
            <a:pPr indent="0" marL="0">
              <a:buNone/>
            </a:pPr>
            <a:r>
              <a:rPr lang="en-US" sz="4800" b="1" dirty="0">
                <a:solidFill>
                  <a:schemeClr val="tx1"/>
                </a:solidFill>
              </a:rPr>
              <a:t>2.6 s</a:t>
            </a:r>
            <a:endParaRPr lang="en-US" sz="4800" dirty="0"/>
          </a:p>
        </p:txBody>
      </p:sp>
      <p:sp>
        <p:nvSpPr>
          <p:cNvPr id="5" name="Text 3"/>
          <p:cNvSpPr txBox="1"/>
          <p:nvPr/>
        </p:nvSpPr>
        <p:spPr>
          <a:xfrm>
            <a:off x="868680" y="2578608"/>
            <a:ext cx="2377440" cy="777240"/>
          </a:xfrm>
          <a:prstGeom prst="rect">
            <a:avLst/>
          </a:prstGeom>
          <a:noFill/>
          <a:ln/>
        </p:spPr>
        <p:txBody>
          <a:bodyPr wrap="square" lIns="0" tIns="0" rIns="0" bIns="0" rtlCol="0" anchor="t"/>
          <a:lstStyle/>
          <a:p>
            <a:pPr indent="0" marL="0">
              <a:buNone/>
            </a:pPr>
            <a:r>
              <a:rPr lang="en-US" sz="1400" dirty="0">
                <a:solidFill>
                  <a:schemeClr val="tx2"/>
                </a:solidFill>
              </a:rPr>
              <a:t>Relay through one phone, fully offline</a:t>
            </a:r>
            <a:endParaRPr lang="en-US" sz="1400" dirty="0"/>
          </a:p>
        </p:txBody>
      </p:sp>
      <p:sp>
        <p:nvSpPr>
          <p:cNvPr id="6" name="3.0 s"/>
          <p:cNvSpPr/>
          <p:nvPr/>
        </p:nvSpPr>
        <p:spPr>
          <a:xfrm>
            <a:off x="3703320" y="1417320"/>
            <a:ext cx="2834640"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3931920" y="1645920"/>
            <a:ext cx="2377440" cy="868680"/>
          </a:xfrm>
          <a:prstGeom prst="rect">
            <a:avLst/>
          </a:prstGeom>
          <a:noFill/>
          <a:ln/>
        </p:spPr>
        <p:txBody>
          <a:bodyPr wrap="square" lIns="0" tIns="0" rIns="0" bIns="0" rtlCol="0" anchor="ctr"/>
          <a:lstStyle/>
          <a:p>
            <a:pPr indent="0" marL="0">
              <a:buNone/>
            </a:pPr>
            <a:r>
              <a:rPr lang="en-US" sz="4800" b="1" dirty="0">
                <a:solidFill>
                  <a:schemeClr val="tx1"/>
                </a:solidFill>
              </a:rPr>
              <a:t>3.0 s</a:t>
            </a:r>
            <a:endParaRPr lang="en-US" sz="4800" dirty="0"/>
          </a:p>
        </p:txBody>
      </p:sp>
      <p:sp>
        <p:nvSpPr>
          <p:cNvPr id="8" name="Text 6"/>
          <p:cNvSpPr txBox="1"/>
          <p:nvPr/>
        </p:nvSpPr>
        <p:spPr>
          <a:xfrm>
            <a:off x="3931920" y="2578608"/>
            <a:ext cx="2377440" cy="777240"/>
          </a:xfrm>
          <a:prstGeom prst="rect">
            <a:avLst/>
          </a:prstGeom>
          <a:noFill/>
          <a:ln/>
        </p:spPr>
        <p:txBody>
          <a:bodyPr wrap="square" lIns="0" tIns="0" rIns="0" bIns="0" rtlCol="0" anchor="t"/>
          <a:lstStyle/>
          <a:p>
            <a:pPr indent="0" marL="0">
              <a:buNone/>
            </a:pPr>
            <a:r>
              <a:rPr lang="en-US" sz="1400" dirty="0">
                <a:solidFill>
                  <a:schemeClr val="tx2"/>
                </a:solidFill>
              </a:rPr>
              <a:t>Area alert reached the phone inside the area</a:t>
            </a:r>
            <a:endParaRPr lang="en-US" sz="1400" dirty="0"/>
          </a:p>
        </p:txBody>
      </p:sp>
      <p:sp>
        <p:nvSpPr>
          <p:cNvPr id="9" name="2.1 s"/>
          <p:cNvSpPr/>
          <p:nvPr/>
        </p:nvSpPr>
        <p:spPr>
          <a:xfrm>
            <a:off x="640080" y="3703320"/>
            <a:ext cx="2834640"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868680" y="3931920"/>
            <a:ext cx="2377440" cy="868680"/>
          </a:xfrm>
          <a:prstGeom prst="rect">
            <a:avLst/>
          </a:prstGeom>
          <a:noFill/>
          <a:ln/>
        </p:spPr>
        <p:txBody>
          <a:bodyPr wrap="square" lIns="0" tIns="0" rIns="0" bIns="0" rtlCol="0" anchor="ctr"/>
          <a:lstStyle/>
          <a:p>
            <a:pPr indent="0" marL="0">
              <a:buNone/>
            </a:pPr>
            <a:r>
              <a:rPr lang="en-US" sz="4800" b="1" dirty="0">
                <a:solidFill>
                  <a:schemeClr val="tx1"/>
                </a:solidFill>
              </a:rPr>
              <a:t>2.1 s</a:t>
            </a:r>
            <a:endParaRPr lang="en-US" sz="4800" dirty="0"/>
          </a:p>
        </p:txBody>
      </p:sp>
      <p:sp>
        <p:nvSpPr>
          <p:cNvPr id="11" name="Text 9"/>
          <p:cNvSpPr txBox="1"/>
          <p:nvPr/>
        </p:nvSpPr>
        <p:spPr>
          <a:xfrm>
            <a:off x="868680" y="4864608"/>
            <a:ext cx="2377440" cy="777240"/>
          </a:xfrm>
          <a:prstGeom prst="rect">
            <a:avLst/>
          </a:prstGeom>
          <a:noFill/>
          <a:ln/>
        </p:spPr>
        <p:txBody>
          <a:bodyPr wrap="square" lIns="0" tIns="0" rIns="0" bIns="0" rtlCol="0" anchor="t"/>
          <a:lstStyle/>
          <a:p>
            <a:pPr indent="0" marL="0">
              <a:buNone/>
            </a:pPr>
            <a:r>
              <a:rPr lang="en-US" sz="1400" dirty="0">
                <a:solidFill>
                  <a:schemeClr val="tx2"/>
                </a:solidFill>
              </a:rPr>
              <a:t>Locked phone inside an area was alerted</a:t>
            </a:r>
            <a:endParaRPr lang="en-US" sz="1400" dirty="0"/>
          </a:p>
        </p:txBody>
      </p:sp>
      <p:sp>
        <p:nvSpPr>
          <p:cNvPr id="12" name="249"/>
          <p:cNvSpPr/>
          <p:nvPr/>
        </p:nvSpPr>
        <p:spPr>
          <a:xfrm>
            <a:off x="3703320" y="3703320"/>
            <a:ext cx="2834640" cy="2103120"/>
          </a:xfrm>
          <a:prstGeom prst="roundRect">
            <a:avLst>
              <a:gd name="adj" fmla="val 4348"/>
            </a:avLst>
          </a:prstGeom>
          <a:solidFill>
            <a:schemeClr val="bg2"/>
          </a:solidFill>
          <a:ln w="12700">
            <a:solidFill>
              <a:schemeClr val="bg2"/>
            </a:solidFill>
            <a:prstDash val="solid"/>
          </a:ln>
        </p:spPr>
      </p:sp>
      <p:sp>
        <p:nvSpPr>
          <p:cNvPr id="13" name="Text 11"/>
          <p:cNvSpPr txBox="1"/>
          <p:nvPr/>
        </p:nvSpPr>
        <p:spPr>
          <a:xfrm>
            <a:off x="3931920" y="3931920"/>
            <a:ext cx="2377440" cy="868680"/>
          </a:xfrm>
          <a:prstGeom prst="rect">
            <a:avLst/>
          </a:prstGeom>
          <a:noFill/>
          <a:ln/>
        </p:spPr>
        <p:txBody>
          <a:bodyPr wrap="square" lIns="0" tIns="0" rIns="0" bIns="0" rtlCol="0" anchor="ctr"/>
          <a:lstStyle/>
          <a:p>
            <a:pPr indent="0" marL="0">
              <a:buNone/>
            </a:pPr>
            <a:r>
              <a:rPr lang="en-US" sz="4800" b="1" dirty="0">
                <a:solidFill>
                  <a:schemeClr val="tx1"/>
                </a:solidFill>
              </a:rPr>
              <a:t>249</a:t>
            </a:r>
            <a:endParaRPr lang="en-US" sz="4800" dirty="0"/>
          </a:p>
        </p:txBody>
      </p:sp>
      <p:sp>
        <p:nvSpPr>
          <p:cNvPr id="14" name="Text 12"/>
          <p:cNvSpPr txBox="1"/>
          <p:nvPr/>
        </p:nvSpPr>
        <p:spPr>
          <a:xfrm>
            <a:off x="3931920" y="4864608"/>
            <a:ext cx="2377440" cy="777240"/>
          </a:xfrm>
          <a:prstGeom prst="rect">
            <a:avLst/>
          </a:prstGeom>
          <a:noFill/>
          <a:ln/>
        </p:spPr>
        <p:txBody>
          <a:bodyPr wrap="square" lIns="0" tIns="0" rIns="0" bIns="0" rtlCol="0" anchor="t"/>
          <a:lstStyle/>
          <a:p>
            <a:pPr indent="0" marL="0">
              <a:buNone/>
            </a:pPr>
            <a:r>
              <a:rPr lang="en-US" sz="1400" dirty="0">
                <a:solidFill>
                  <a:schemeClr val="tx2"/>
                </a:solidFill>
              </a:rPr>
              <a:t>Automated Android tests pass on the final code</a:t>
            </a:r>
            <a:endParaRPr lang="en-US" sz="1400" dirty="0"/>
          </a:p>
        </p:txBody>
      </p:sp>
      <p:sp>
        <p:nvSpPr>
          <p:cNvPr id="15" name="Phone frame"/>
          <p:cNvSpPr/>
          <p:nvPr/>
        </p:nvSpPr>
        <p:spPr>
          <a:xfrm>
            <a:off x="7022592" y="1353312"/>
            <a:ext cx="2139696" cy="4620768"/>
          </a:xfrm>
          <a:prstGeom prst="roundRect">
            <a:avLst>
              <a:gd name="adj" fmla="val 4274"/>
            </a:avLst>
          </a:prstGeom>
          <a:solidFill>
            <a:schemeClr val="tx1"/>
          </a:solidFill>
          <a:ln w="12700">
            <a:solidFill>
              <a:schemeClr val="tx1"/>
            </a:solidFill>
            <a:prstDash val="solid"/>
          </a:ln>
        </p:spPr>
      </p:sp>
      <p:pic>
        <p:nvPicPr>
          <p:cNvPr id="16" name="Inside the area (test location)" descr="Phone showing an official alert for its area">    </p:cNvPr>
          <p:cNvPicPr>
            <a:picLocks noChangeAspect="1"/>
          </p:cNvPicPr>
          <p:nvPr/>
        </p:nvPicPr>
        <p:blipFill>
          <a:blip r:embed="rId1"/>
          <a:stretch>
            <a:fillRect/>
          </a:stretch>
        </p:blipFill>
        <p:spPr>
          <a:xfrm>
            <a:off x="7086600" y="1417320"/>
            <a:ext cx="2011680" cy="4492752"/>
          </a:xfrm>
          <a:prstGeom prst="rect">
            <a:avLst/>
          </a:prstGeom>
        </p:spPr>
      </p:pic>
      <p:sp>
        <p:nvSpPr>
          <p:cNvPr id="17" name="Text 14"/>
          <p:cNvSpPr txBox="1"/>
          <p:nvPr/>
        </p:nvSpPr>
        <p:spPr>
          <a:xfrm>
            <a:off x="7022592" y="6016752"/>
            <a:ext cx="2139696" cy="274320"/>
          </a:xfrm>
          <a:prstGeom prst="rect">
            <a:avLst/>
          </a:prstGeom>
          <a:noFill/>
          <a:ln/>
        </p:spPr>
        <p:txBody>
          <a:bodyPr wrap="square" lIns="0" tIns="0" rIns="0" bIns="0" rtlCol="0" anchor="ctr"/>
          <a:lstStyle/>
          <a:p>
            <a:pPr algn="ctr" indent="0" marL="0">
              <a:buNone/>
            </a:pPr>
            <a:r>
              <a:rPr lang="en-US" sz="1100" dirty="0">
                <a:solidFill>
                  <a:schemeClr val="tx2"/>
                </a:solidFill>
              </a:rPr>
              <a:t>Inside the area (test location)</a:t>
            </a:r>
            <a:endParaRPr lang="en-US" sz="1100" dirty="0"/>
          </a:p>
        </p:txBody>
      </p:sp>
      <p:sp>
        <p:nvSpPr>
          <p:cNvPr id="18" name="Phone frame"/>
          <p:cNvSpPr/>
          <p:nvPr/>
        </p:nvSpPr>
        <p:spPr>
          <a:xfrm>
            <a:off x="9354312" y="1353312"/>
            <a:ext cx="2139696" cy="4620768"/>
          </a:xfrm>
          <a:prstGeom prst="roundRect">
            <a:avLst>
              <a:gd name="adj" fmla="val 4274"/>
            </a:avLst>
          </a:prstGeom>
          <a:solidFill>
            <a:schemeClr val="tx1"/>
          </a:solidFill>
          <a:ln w="12700">
            <a:solidFill>
              <a:schemeClr val="tx1"/>
            </a:solidFill>
            <a:prstDash val="solid"/>
          </a:ln>
        </p:spPr>
      </p:sp>
      <p:pic>
        <p:nvPicPr>
          <p:cNvPr id="19" name="Admin view (test location)" descr="Admin screen showing an SOS 19.6 km east of the admin's phone">    </p:cNvPr>
          <p:cNvPicPr>
            <a:picLocks noChangeAspect="1"/>
          </p:cNvPicPr>
          <p:nvPr/>
        </p:nvPicPr>
        <p:blipFill>
          <a:blip r:embed="rId2"/>
          <a:stretch>
            <a:fillRect/>
          </a:stretch>
        </p:blipFill>
        <p:spPr>
          <a:xfrm>
            <a:off x="9418320" y="1417320"/>
            <a:ext cx="2011680" cy="4492752"/>
          </a:xfrm>
          <a:prstGeom prst="rect">
            <a:avLst/>
          </a:prstGeom>
        </p:spPr>
      </p:pic>
      <p:sp>
        <p:nvSpPr>
          <p:cNvPr id="20" name="Text 16"/>
          <p:cNvSpPr txBox="1"/>
          <p:nvPr/>
        </p:nvSpPr>
        <p:spPr>
          <a:xfrm>
            <a:off x="9354312" y="6016752"/>
            <a:ext cx="2139696" cy="274320"/>
          </a:xfrm>
          <a:prstGeom prst="rect">
            <a:avLst/>
          </a:prstGeom>
          <a:noFill/>
          <a:ln/>
        </p:spPr>
        <p:txBody>
          <a:bodyPr wrap="square" lIns="0" tIns="0" rIns="0" bIns="0" rtlCol="0" anchor="ctr"/>
          <a:lstStyle/>
          <a:p>
            <a:pPr algn="ctr" indent="0" marL="0">
              <a:buNone/>
            </a:pPr>
            <a:r>
              <a:rPr lang="en-US" sz="1100" dirty="0">
                <a:solidFill>
                  <a:schemeClr val="tx2"/>
                </a:solidFill>
              </a:rPr>
              <a:t>Admin view (test location)</a:t>
            </a:r>
            <a:endParaRPr lang="en-US" sz="1100" dirty="0"/>
          </a:p>
        </p:txBody>
      </p:sp>
      <p:sp>
        <p:nvSpPr>
          <p:cNvPr id="25" name="Slide Number Placeholder 0"/>
          <p:cNvSpPr>
            <a:spLocks noGrp="1"/>
          </p:cNvSpPr>
          <p:nvPr>
            <p:ph type="sldNum" sz="quarter" idx="4294967295"/>
          </p:nvPr>
        </p:nvSpPr>
        <p:spPr>
          <a:xfrm>
            <a:off x="1100023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lIns="0" tIns="0" rIns="0" bIns="0" rtlCol="0" anchor="ctr"/>
          <a:lstStyle/>
          <a:p>
            <a:pPr algn="l" indent="0" marL="0">
              <a:buNone/>
            </a:pPr>
            <a:r>
              <a:rPr lang="en-US" sz="3600" b="1" dirty="0">
                <a:solidFill>
                  <a:schemeClr val="bg1"/>
                </a:solidFill>
              </a:rPr>
              <a:t>What we haven't proved yet</a:t>
            </a:r>
            <a:endParaRPr lang="en-US" sz="3600" dirty="0"/>
          </a:p>
        </p:txBody>
      </p:sp>
      <p:sp>
        <p:nvSpPr>
          <p:cNvPr id="3" name="Text 1"/>
          <p:cNvSpPr txBox="1"/>
          <p:nvPr/>
        </p:nvSpPr>
        <p:spPr>
          <a:xfrm>
            <a:off x="640080" y="1463040"/>
            <a:ext cx="6583680" cy="3840480"/>
          </a:xfrm>
          <a:prstGeom prst="rect">
            <a:avLst/>
          </a:prstGeom>
          <a:noFill/>
          <a:ln/>
        </p:spPr>
        <p:txBody>
          <a:bodyPr wrap="square" lIns="0" tIns="0" rIns="0" bIns="0" rtlCol="0" anchor="t"/>
          <a:lstStyle/>
          <a:p>
            <a:pPr indent="0" marL="0">
              <a:spcAft>
                <a:spcPts val="1600"/>
              </a:spcAft>
              <a:buNone/>
            </a:pPr>
            <a:r>
              <a:rPr lang="en-US" sz="1800" b="1" dirty="0">
                <a:solidFill>
                  <a:schemeClr val="accent6"/>
                </a:solidFill>
              </a:rPr>
              <a:t>Scale: </a:t>
            </a:r>
            <a:pPr indent="0" marL="0">
              <a:spcAft>
                <a:spcPts val="1600"/>
              </a:spcAft>
              <a:buNone/>
            </a:pPr>
            <a:r>
              <a:rPr lang="en-US" sz="1800" dirty="0">
                <a:solidFill>
                  <a:schemeClr val="bg1"/>
                </a:solidFill>
              </a:rPr>
              <a:t>3 real and 5 simulated phones, not 1,000</a:t>
            </a:r>
            <a:endParaRPr lang="en-US" sz="1800" dirty="0"/>
          </a:p>
          <a:p>
            <a:pPr indent="0" marL="0">
              <a:spcAft>
                <a:spcPts val="1600"/>
              </a:spcAft>
              <a:buNone/>
            </a:pPr>
            <a:r>
              <a:rPr lang="en-US" sz="1800" b="1" dirty="0">
                <a:solidFill>
                  <a:schemeClr val="accent6"/>
                </a:solidFill>
              </a:rPr>
              <a:t>Location: </a:t>
            </a:r>
            <a:pPr indent="0" marL="0">
              <a:spcAft>
                <a:spcPts val="1600"/>
              </a:spcAft>
              <a:buNone/>
            </a:pPr>
            <a:r>
              <a:rPr lang="en-US" sz="1800" dirty="0">
                <a:solidFill>
                  <a:schemeClr val="bg1"/>
                </a:solidFill>
              </a:rPr>
              <a:t>test locations indoors, not real GPS boundaries</a:t>
            </a:r>
            <a:endParaRPr lang="en-US" sz="1800" dirty="0"/>
          </a:p>
          <a:p>
            <a:pPr indent="0" marL="0">
              <a:spcAft>
                <a:spcPts val="1600"/>
              </a:spcAft>
              <a:buNone/>
            </a:pPr>
            <a:r>
              <a:rPr lang="en-US" sz="1800" b="1" dirty="0">
                <a:solidFill>
                  <a:schemeClr val="accent6"/>
                </a:solidFill>
              </a:rPr>
              <a:t>Battery and range: </a:t>
            </a:r>
            <a:pPr indent="0" marL="0">
              <a:spcAft>
                <a:spcPts val="1600"/>
              </a:spcAft>
              <a:buNone/>
            </a:pPr>
            <a:r>
              <a:rPr lang="en-US" sz="1800" dirty="0">
                <a:solidFill>
                  <a:schemeClr val="bg1"/>
                </a:solidFill>
              </a:rPr>
              <a:t>not measured</a:t>
            </a:r>
            <a:endParaRPr lang="en-US" sz="1800" dirty="0"/>
          </a:p>
          <a:p>
            <a:pPr indent="0" marL="0">
              <a:spcAft>
                <a:spcPts val="1600"/>
              </a:spcAft>
              <a:buNone/>
            </a:pPr>
            <a:r>
              <a:rPr lang="en-US" sz="1800" b="1" dirty="0">
                <a:solidFill>
                  <a:schemeClr val="accent6"/>
                </a:solidFill>
              </a:rPr>
              <a:t>Locked relay: </a:t>
            </a:r>
            <a:pPr indent="0" marL="0">
              <a:spcAft>
                <a:spcPts val="1600"/>
              </a:spcAft>
              <a:buNone/>
            </a:pPr>
            <a:r>
              <a:rPr lang="en-US" sz="1800" dirty="0">
                <a:solidFill>
                  <a:schemeClr val="bg1"/>
                </a:solidFill>
              </a:rPr>
              <a:t>failed on OnePlus, passed on two others</a:t>
            </a:r>
            <a:endParaRPr lang="en-US" sz="1800" dirty="0"/>
          </a:p>
          <a:p>
            <a:pPr indent="0" marL="0">
              <a:spcAft>
                <a:spcPts val="1600"/>
              </a:spcAft>
              <a:buNone/>
            </a:pPr>
            <a:r>
              <a:rPr lang="en-US" sz="1800" b="1" dirty="0">
                <a:solidFill>
                  <a:schemeClr val="accent6"/>
                </a:solidFill>
              </a:rPr>
              <a:t>AI dashboard: </a:t>
            </a:r>
            <a:pPr indent="0" marL="0">
              <a:spcAft>
                <a:spcPts val="1600"/>
              </a:spcAft>
              <a:buNone/>
            </a:pPr>
            <a:r>
              <a:rPr lang="en-US" sz="1800" dirty="0">
                <a:solidFill>
                  <a:schemeClr val="bg1"/>
                </a:solidFill>
              </a:rPr>
              <a:t>not run with a live model</a:t>
            </a:r>
            <a:endParaRPr lang="en-US" sz="1800" dirty="0"/>
          </a:p>
          <a:p>
            <a:pPr indent="0" marL="0">
              <a:spcAft>
                <a:spcPts val="1600"/>
              </a:spcAft>
              <a:buNone/>
            </a:pPr>
            <a:r>
              <a:rPr lang="en-US" sz="1800" b="1" dirty="0">
                <a:solidFill>
                  <a:schemeClr val="accent6"/>
                </a:solidFill>
              </a:rPr>
              <a:t>Security: </a:t>
            </a:r>
            <a:pPr indent="0" marL="0">
              <a:spcAft>
                <a:spcPts val="1600"/>
              </a:spcAft>
              <a:buNone/>
            </a:pPr>
            <a:r>
              <a:rPr lang="en-US" sz="1800" dirty="0">
                <a:solidFill>
                  <a:schemeClr val="bg1"/>
                </a:solidFill>
              </a:rPr>
              <a:t>no independent review yet</a:t>
            </a:r>
            <a:endParaRPr lang="en-US" sz="1800" dirty="0"/>
          </a:p>
        </p:txBody>
      </p:sp>
      <p:sp>
        <p:nvSpPr>
          <p:cNvPr id="4" name="Try it"/>
          <p:cNvSpPr/>
          <p:nvPr/>
        </p:nvSpPr>
        <p:spPr>
          <a:xfrm>
            <a:off x="7589520" y="1463040"/>
            <a:ext cx="3959352" cy="2926080"/>
          </a:xfrm>
          <a:prstGeom prst="roundRect">
            <a:avLst>
              <a:gd name="adj" fmla="val 3125"/>
            </a:avLst>
          </a:prstGeom>
          <a:solidFill>
            <a:schemeClr val="accent5"/>
          </a:solidFill>
          <a:ln w="12700">
            <a:solidFill>
              <a:schemeClr val="accent5"/>
            </a:solidFill>
            <a:prstDash val="solid"/>
          </a:ln>
        </p:spPr>
      </p:sp>
      <p:sp>
        <p:nvSpPr>
          <p:cNvPr id="5" name="Text 3"/>
          <p:cNvSpPr txBox="1"/>
          <p:nvPr/>
        </p:nvSpPr>
        <p:spPr>
          <a:xfrm>
            <a:off x="7863840" y="1691640"/>
            <a:ext cx="3383280" cy="411480"/>
          </a:xfrm>
          <a:prstGeom prst="rect">
            <a:avLst/>
          </a:prstGeom>
          <a:noFill/>
          <a:ln/>
        </p:spPr>
        <p:txBody>
          <a:bodyPr wrap="square" lIns="0" tIns="0" rIns="0" bIns="0" rtlCol="0" anchor="ctr"/>
          <a:lstStyle/>
          <a:p>
            <a:pPr indent="0" marL="0">
              <a:buNone/>
            </a:pPr>
            <a:r>
              <a:rPr lang="en-US" sz="2200" b="1" dirty="0">
                <a:solidFill>
                  <a:schemeClr val="bg1"/>
                </a:solidFill>
              </a:rPr>
              <a:t>Try it</a:t>
            </a:r>
            <a:endParaRPr lang="en-US" sz="2200" dirty="0"/>
          </a:p>
        </p:txBody>
      </p:sp>
      <p:sp>
        <p:nvSpPr>
          <p:cNvPr id="6" name="Text 4"/>
          <p:cNvSpPr txBox="1"/>
          <p:nvPr/>
        </p:nvSpPr>
        <p:spPr>
          <a:xfrm>
            <a:off x="7863840" y="2286000"/>
            <a:ext cx="3383280" cy="914400"/>
          </a:xfrm>
          <a:prstGeom prst="rect">
            <a:avLst/>
          </a:prstGeom>
          <a:noFill/>
          <a:ln/>
        </p:spPr>
        <p:txBody>
          <a:bodyPr wrap="square" lIns="0" tIns="0" rIns="0" bIns="0" rtlCol="0" anchor="t"/>
          <a:lstStyle/>
          <a:p>
            <a:pPr indent="0" marL="0">
              <a:spcAft>
                <a:spcPts val="1000"/>
              </a:spcAft>
              <a:buNone/>
            </a:pPr>
            <a:r>
              <a:rPr lang="en-US" sz="1800" b="1" u="sng" dirty="0">
                <a:solidFill>
                  <a:schemeClr val="accent1"/>
                </a:solidFill>
                <a:hlinkClick r:id="rId1" invalidUrl="" action="" tgtFrame="" tooltip="GitHub repository" history="1" highlightClick="0" endSnd="0">
                  <a:extLst>
                    <a:ext uri="{A12FA001-AC4F-418D-AE19-62706E023703}">
                      <ahyp:hlinkClr xmlns:ahyp="http://schemas.microsoft.com/office/drawing/2018/hyperlinkcolor" val="tx"/>
                    </a:ext>
                  </a:extLst>
                </a:hlinkClick>
              </a:rPr>
              <a:t>Code and evidence</a:t>
            </a:r>
            <a:endParaRPr lang="en-US" sz="1800" dirty="0"/>
          </a:p>
          <a:p>
            <a:pPr indent="0" marL="0">
              <a:spcAft>
                <a:spcPts val="1000"/>
              </a:spcAft>
              <a:buNone/>
            </a:pPr>
            <a:r>
              <a:rPr lang="en-US" sz="1800" b="1" u="sng" dirty="0">
                <a:solidFill>
                  <a:schemeClr val="accent1"/>
                </a:solidFill>
                <a:hlinkClick r:id="rId2" invalidUrl="" action="" tgtFrame="" tooltip="APK release" history="1" highlightClick="0" endSnd="0">
                  <a:extLst>
                    <a:ext uri="{A12FA001-AC4F-418D-AE19-62706E023703}">
                      <ahyp:hlinkClr xmlns:ahyp="http://schemas.microsoft.com/office/drawing/2018/hyperlinkcolor" val="tx"/>
                    </a:ext>
                  </a:extLst>
                </a:hlinkClick>
              </a:rPr>
              <a:t>Download the APK</a:t>
            </a:r>
            <a:endParaRPr lang="en-US" sz="1800" dirty="0"/>
          </a:p>
        </p:txBody>
      </p:sp>
      <p:sp>
        <p:nvSpPr>
          <p:cNvPr id="7" name="Text 5"/>
          <p:cNvSpPr txBox="1"/>
          <p:nvPr/>
        </p:nvSpPr>
        <p:spPr>
          <a:xfrm>
            <a:off x="7863840" y="3429000"/>
            <a:ext cx="3383280" cy="640080"/>
          </a:xfrm>
          <a:prstGeom prst="rect">
            <a:avLst/>
          </a:prstGeom>
          <a:noFill/>
          <a:ln/>
        </p:spPr>
        <p:txBody>
          <a:bodyPr wrap="square" lIns="0" tIns="0" rIns="0" bIns="0" rtlCol="0" anchor="t"/>
          <a:lstStyle/>
          <a:p>
            <a:pPr indent="0" marL="0">
              <a:buNone/>
            </a:pPr>
            <a:r>
              <a:rPr lang="en-US" sz="1400" dirty="0">
                <a:solidFill>
                  <a:schemeClr val="accent6"/>
                </a:solidFill>
              </a:rPr>
              <a:t>Android 8.0+ with Google Play services</a:t>
            </a:r>
            <a:endParaRPr lang="en-US" sz="1400" dirty="0"/>
          </a:p>
        </p:txBody>
      </p:sp>
      <p:sp>
        <p:nvSpPr>
          <p:cNvPr id="8" name="Text 6"/>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600" dirty="0">
                <a:solidFill>
                  <a:schemeClr val="accent4"/>
                </a:solidFill>
              </a:rPr>
              <a:t>EmergencyMesh is a prototype and doesn't replace official emergency services.</a:t>
            </a:r>
            <a:endParaRPr lang="en-US" sz="1600" dirty="0"/>
          </a:p>
        </p:txBody>
      </p:sp>
    </p:spTree>
  </p:cSld>
  <p:clrMapOvr>
    <a:masterClrMapping/>
  </p:clrMapOvr>
</p:sld>
</file>

<file path=ppt/theme/theme1.xml><?xml version="1.0" encoding="utf-8"?>
<a:theme xmlns:a="http://schemas.openxmlformats.org/drawingml/2006/main" name="EmergencyMesh">
  <a:themeElements>
    <a:clrScheme name="EmergencyMesh">
      <a:dk1>
        <a:srgbClr val="0F1724"/>
      </a:dk1>
      <a:lt1>
        <a:srgbClr val="FFFFFF"/>
      </a:lt1>
      <a:dk2>
        <a:srgbClr val="47546A"/>
      </a:dk2>
      <a:lt2>
        <a:srgbClr val="F1F3F7"/>
      </a:lt2>
      <a:accent1>
        <a:srgbClr val="F5A623"/>
      </a:accent1>
      <a:accent2>
        <a:srgbClr val="D63B3B"/>
      </a:accent2>
      <a:accent3>
        <a:srgbClr val="157F5B"/>
      </a:accent3>
      <a:accent4>
        <a:srgbClr val="8A94A6"/>
      </a:accent4>
      <a:accent5>
        <a:srgbClr val="2B3648"/>
      </a:accent5>
      <a:accent6>
        <a:srgbClr val="FFD98A"/>
      </a:accent6>
      <a:hlink>
        <a:srgbClr val="F5A623"/>
      </a:hlink>
      <a:folHlink>
        <a:srgbClr val="FFD98A"/>
      </a:folHlink>
    </a:clrScheme>
    <a:fontScheme name="EmergencyMes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EmergencyMesh</dc:title>
  <dc:subject>CBIT Hacktoberfest '26 submission</dc:subject>
  <dc:creator>Team Slackers</dc:creator>
  <cp:lastModifiedBy>Team Slackers</cp:lastModifiedBy>
  <cp:revision>1</cp:revision>
  <dcterms:created xsi:type="dcterms:W3CDTF">2026-10-31T08:56:59Z</dcterms:created>
  <dcterms:modified xsi:type="dcterms:W3CDTF">2026-10-31T08:56:59Z</dcterms:modified>
</cp:coreProperties>
</file>